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7"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24" autoAdjust="0"/>
    <p:restoredTop sz="95033" autoAdjust="0"/>
  </p:normalViewPr>
  <p:slideViewPr>
    <p:cSldViewPr snapToGrid="0">
      <p:cViewPr>
        <p:scale>
          <a:sx n="66" d="100"/>
          <a:sy n="66" d="100"/>
        </p:scale>
        <p:origin x="-642" y="-264"/>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73100" y="3482314"/>
            <a:ext cx="4504871" cy="886486"/>
          </a:xfrm>
        </p:spPr>
        <p:txBody>
          <a:bodyPr vert="horz" lIns="91440" tIns="45720" rIns="91440" bIns="45720" rtlCol="0" anchor="t">
            <a:normAutofit/>
          </a:bodyPr>
          <a:lstStyle/>
          <a:p>
            <a:pPr algn="r"/>
            <a:r>
              <a:rPr lang="en-US" b="0" dirty="0" smtClean="0">
                <a:solidFill>
                  <a:schemeClr val="tx1"/>
                </a:solidFill>
              </a:rPr>
              <a:t>	   </a:t>
            </a:r>
            <a:r>
              <a:rPr lang="en-US" b="0" dirty="0" smtClean="0">
                <a:solidFill>
                  <a:schemeClr val="tx1"/>
                </a:solidFill>
              </a:rPr>
              <a:t>Name – </a:t>
            </a:r>
            <a:r>
              <a:rPr lang="en-US" b="0" dirty="0" smtClean="0">
                <a:solidFill>
                  <a:schemeClr val="tx1"/>
                </a:solidFill>
                <a:latin typeface="+mn-lt"/>
              </a:rPr>
              <a:t>Surya </a:t>
            </a:r>
            <a:r>
              <a:rPr lang="en-US" b="0" dirty="0" err="1" smtClean="0">
                <a:solidFill>
                  <a:schemeClr val="tx1"/>
                </a:solidFill>
                <a:latin typeface="+mn-lt"/>
              </a:rPr>
              <a:t>Dev</a:t>
            </a:r>
            <a:r>
              <a:rPr lang="en-US" b="0" dirty="0" smtClean="0">
                <a:solidFill>
                  <a:schemeClr val="tx1"/>
                </a:solidFill>
                <a:latin typeface="+mn-lt"/>
              </a:rPr>
              <a:t> </a:t>
            </a:r>
            <a:r>
              <a:rPr lang="en-US" b="0" dirty="0" smtClean="0">
                <a:solidFill>
                  <a:schemeClr val="tx1"/>
                </a:solidFill>
              </a:rPr>
              <a:t>.A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3" y="2844750"/>
            <a:ext cx="10584723" cy="743448"/>
          </a:xfrm>
        </p:spPr>
        <p:txBody>
          <a:bodyPr>
            <a:normAutofit fontScale="90000"/>
          </a:bodyPr>
          <a:lstStyle/>
          <a:p>
            <a:r>
              <a:rPr lang="en-GB" sz="3200" dirty="0"/>
              <a:t>Project Title </a:t>
            </a:r>
            <a:r>
              <a:rPr lang="en-GB" sz="3200" dirty="0" smtClean="0"/>
              <a:t>- </a:t>
            </a:r>
            <a:r>
              <a:rPr lang="en-US" sz="3200" b="1" dirty="0" smtClean="0"/>
              <a:t>Seasonal </a:t>
            </a:r>
            <a:r>
              <a:rPr lang="en-US" sz="3200" b="1" dirty="0"/>
              <a:t>Agriculture Performance Analysis</a:t>
            </a:r>
            <a:br>
              <a:rPr lang="en-US" sz="3200" b="1" dirty="0"/>
            </a:b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1361539" y="4104919"/>
            <a:ext cx="6212651" cy="369332"/>
          </a:xfrm>
          <a:prstGeom prst="rect">
            <a:avLst/>
          </a:prstGeom>
          <a:noFill/>
        </p:spPr>
        <p:txBody>
          <a:bodyPr wrap="square" rtlCol="0">
            <a:spAutoFit/>
          </a:bodyPr>
          <a:lstStyle/>
          <a:p>
            <a:r>
              <a:rPr lang="en-US" b="1" dirty="0"/>
              <a:t>AICTE STU ID : </a:t>
            </a:r>
            <a:r>
              <a:rPr lang="en-US" b="1" dirty="0"/>
              <a:t>STU6a6ad681e26b51785386625</a:t>
            </a:r>
            <a:endParaRPr lang="en-US" b="1" dirty="0"/>
          </a:p>
        </p:txBody>
      </p:sp>
      <p:sp>
        <p:nvSpPr>
          <p:cNvPr id="5" name="TextBox 4"/>
          <p:cNvSpPr txBox="1"/>
          <p:nvPr/>
        </p:nvSpPr>
        <p:spPr>
          <a:xfrm>
            <a:off x="1361539" y="3827920"/>
            <a:ext cx="5544457" cy="646331"/>
          </a:xfrm>
          <a:prstGeom prst="rect">
            <a:avLst/>
          </a:prstGeom>
          <a:noFill/>
        </p:spPr>
        <p:txBody>
          <a:bodyPr wrap="square" rtlCol="0">
            <a:spAutoFit/>
          </a:bodyPr>
          <a:lstStyle/>
          <a:p>
            <a:r>
              <a:rPr lang="en-US" b="1" dirty="0">
                <a:latin typeface="+mj-lt"/>
              </a:rPr>
              <a:t>College Name </a:t>
            </a:r>
            <a:r>
              <a:rPr lang="en-US" dirty="0"/>
              <a:t>– </a:t>
            </a:r>
            <a:r>
              <a:rPr lang="en-US" b="1" dirty="0"/>
              <a:t>Presidency University</a:t>
            </a:r>
            <a:endParaRPr lang="en-IN" b="1" dirty="0"/>
          </a:p>
          <a:p>
            <a:endParaRPr lang="en-US"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7" y="1930400"/>
            <a:ext cx="10529072" cy="4524315"/>
          </a:xfrm>
          <a:prstGeom prst="rect">
            <a:avLst/>
          </a:prstGeom>
          <a:noFill/>
        </p:spPr>
        <p:txBody>
          <a:bodyPr wrap="square" rtlCol="0">
            <a:spAutoFit/>
          </a:bodyPr>
          <a:lstStyle/>
          <a:p>
            <a:r>
              <a:rPr lang="en-US" dirty="0"/>
              <a:t>This project analyzes </a:t>
            </a:r>
            <a:r>
              <a:rPr lang="en-US" b="1" dirty="0"/>
              <a:t>seasonal agricultural performance</a:t>
            </a:r>
            <a:r>
              <a:rPr lang="en-US" dirty="0"/>
              <a:t> across </a:t>
            </a:r>
            <a:r>
              <a:rPr lang="en-US" dirty="0" err="1"/>
              <a:t>Kharif</a:t>
            </a:r>
            <a:r>
              <a:rPr lang="en-US" dirty="0"/>
              <a:t>, Rabi, and </a:t>
            </a:r>
            <a:r>
              <a:rPr lang="en-US" dirty="0" err="1"/>
              <a:t>Zaid</a:t>
            </a:r>
            <a:r>
              <a:rPr lang="en-US" dirty="0"/>
              <a:t> seasons using data related to </a:t>
            </a:r>
            <a:r>
              <a:rPr lang="en-US" b="1" dirty="0"/>
              <a:t>crop production, environmental conditions, resource usage, and economic performance</a:t>
            </a:r>
            <a:r>
              <a:rPr lang="en-US" dirty="0"/>
              <a:t>.</a:t>
            </a:r>
          </a:p>
          <a:p>
            <a:r>
              <a:rPr lang="en-US" dirty="0"/>
              <a:t>The analysis focuses on identifying </a:t>
            </a:r>
            <a:r>
              <a:rPr lang="en-US" b="1" dirty="0"/>
              <a:t>seasonal patterns, variations, relationships, and significant differences</a:t>
            </a:r>
            <a:r>
              <a:rPr lang="en-US" dirty="0"/>
              <a:t> in agricultural outcomes. Data cleaning, exploratory data analysis, statistical techniques, and visualizations are used to compare seasons and crops and understand factors associated with </a:t>
            </a:r>
            <a:r>
              <a:rPr lang="en-US" b="1" dirty="0"/>
              <a:t>yield, resource efficiency, profitability, and agricultural risk</a:t>
            </a:r>
            <a:r>
              <a:rPr lang="en-US" dirty="0"/>
              <a:t>.</a:t>
            </a:r>
          </a:p>
          <a:p>
            <a:r>
              <a:rPr lang="en-US" b="1" dirty="0"/>
              <a:t>Key focus areas:</a:t>
            </a:r>
            <a:endParaRPr lang="en-US" dirty="0"/>
          </a:p>
          <a:p>
            <a:pPr marL="285750" indent="-285750">
              <a:buFont typeface="Arial" pitchFamily="34" charset="0"/>
              <a:buChar char="•"/>
            </a:pPr>
            <a:r>
              <a:rPr lang="en-US" dirty="0"/>
              <a:t>Seasonal crop performance and productivity </a:t>
            </a:r>
          </a:p>
          <a:p>
            <a:pPr marL="285750" indent="-285750">
              <a:buFont typeface="Arial" pitchFamily="34" charset="0"/>
              <a:buChar char="•"/>
            </a:pPr>
            <a:r>
              <a:rPr lang="en-US" dirty="0"/>
              <a:t>Environmental conditions such as rainfall, temperature, and soil moisture </a:t>
            </a:r>
          </a:p>
          <a:p>
            <a:pPr marL="285750" indent="-285750">
              <a:buFont typeface="Arial" pitchFamily="34" charset="0"/>
              <a:buChar char="•"/>
            </a:pPr>
            <a:r>
              <a:rPr lang="en-US" dirty="0"/>
              <a:t>Water, fertilizer, and pesticide usage </a:t>
            </a:r>
          </a:p>
          <a:p>
            <a:pPr marL="285750" indent="-285750">
              <a:buFont typeface="Arial" pitchFamily="34" charset="0"/>
              <a:buChar char="•"/>
            </a:pPr>
            <a:r>
              <a:rPr lang="en-US" dirty="0"/>
              <a:t>Crop-wise yield and profitability </a:t>
            </a:r>
          </a:p>
          <a:p>
            <a:pPr marL="285750" indent="-285750">
              <a:buFont typeface="Arial" pitchFamily="34" charset="0"/>
              <a:buChar char="•"/>
            </a:pPr>
            <a:r>
              <a:rPr lang="en-US" dirty="0"/>
              <a:t>Disease and pest risk </a:t>
            </a:r>
          </a:p>
          <a:p>
            <a:pPr marL="285750" indent="-285750">
              <a:buFont typeface="Arial" pitchFamily="34" charset="0"/>
              <a:buChar char="•"/>
            </a:pPr>
            <a:r>
              <a:rPr lang="en-US" dirty="0"/>
              <a:t>Statistical comparison of seasonal yield </a:t>
            </a:r>
          </a:p>
          <a:p>
            <a:pPr marL="285750" indent="-285750">
              <a:buFont typeface="Arial" pitchFamily="34" charset="0"/>
              <a:buChar char="•"/>
            </a:pPr>
            <a:r>
              <a:rPr lang="en-US" dirty="0"/>
              <a:t>Data-driven insights and recommendations for agricultural planning</a:t>
            </a:r>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184579" y="1428160"/>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p:cNvSpPr txBox="1"/>
          <p:nvPr/>
        </p:nvSpPr>
        <p:spPr>
          <a:xfrm>
            <a:off x="319314" y="3106057"/>
            <a:ext cx="11814629" cy="1754326"/>
          </a:xfrm>
          <a:prstGeom prst="rect">
            <a:avLst/>
          </a:prstGeom>
          <a:noFill/>
        </p:spPr>
        <p:txBody>
          <a:bodyPr wrap="square" rtlCol="0">
            <a:spAutoFit/>
          </a:bodyPr>
          <a:lstStyle/>
          <a:p>
            <a:pPr marL="285750" indent="-285750">
              <a:buFont typeface="Arial" pitchFamily="34" charset="0"/>
              <a:buChar char="•"/>
            </a:pPr>
            <a:r>
              <a:rPr lang="en-US" b="1" dirty="0" smtClean="0"/>
              <a:t>Farmers</a:t>
            </a:r>
            <a:r>
              <a:rPr lang="en-US" dirty="0" smtClean="0"/>
              <a:t> </a:t>
            </a:r>
            <a:r>
              <a:rPr lang="en-US" dirty="0"/>
              <a:t>– To support crop and seasonal planning decisions. </a:t>
            </a:r>
            <a:endParaRPr lang="en-US" dirty="0" smtClean="0"/>
          </a:p>
          <a:p>
            <a:pPr marL="285750" indent="-285750">
              <a:buFont typeface="Arial" pitchFamily="34" charset="0"/>
              <a:buChar char="•"/>
            </a:pPr>
            <a:r>
              <a:rPr lang="en-US" b="1" dirty="0" smtClean="0"/>
              <a:t>Agricultural </a:t>
            </a:r>
            <a:r>
              <a:rPr lang="en-US" b="1" dirty="0"/>
              <a:t>Planners</a:t>
            </a:r>
            <a:r>
              <a:rPr lang="en-US" dirty="0"/>
              <a:t> – To analyze seasonal performance and resource requirements. </a:t>
            </a:r>
            <a:endParaRPr lang="en-US" dirty="0" smtClean="0"/>
          </a:p>
          <a:p>
            <a:pPr marL="285750" indent="-285750">
              <a:buFont typeface="Arial" pitchFamily="34" charset="0"/>
              <a:buChar char="•"/>
            </a:pPr>
            <a:r>
              <a:rPr lang="en-US" b="1" dirty="0" smtClean="0"/>
              <a:t>Government </a:t>
            </a:r>
            <a:r>
              <a:rPr lang="en-US" b="1" dirty="0"/>
              <a:t>&amp; Agricultural Departments</a:t>
            </a:r>
            <a:r>
              <a:rPr lang="en-US" dirty="0"/>
              <a:t> – For data-driven agricultural planning and policy decisions</a:t>
            </a:r>
            <a:r>
              <a:rPr lang="en-US" dirty="0" smtClean="0"/>
              <a:t>.</a:t>
            </a:r>
          </a:p>
          <a:p>
            <a:pPr marL="285750" indent="-285750">
              <a:buFont typeface="Arial" pitchFamily="34" charset="0"/>
              <a:buChar char="•"/>
            </a:pPr>
            <a:r>
              <a:rPr lang="en-US" b="1" dirty="0" smtClean="0"/>
              <a:t>Agricultural </a:t>
            </a:r>
            <a:r>
              <a:rPr lang="en-US" b="1" dirty="0"/>
              <a:t>Analysts &amp; Researchers</a:t>
            </a:r>
            <a:r>
              <a:rPr lang="en-US" dirty="0"/>
              <a:t> – To study trends, relationships, and variations in agricultural </a:t>
            </a:r>
            <a:r>
              <a:rPr lang="en-US" dirty="0" smtClean="0"/>
              <a:t>data</a:t>
            </a:r>
          </a:p>
          <a:p>
            <a:pPr marL="285750" indent="-285750">
              <a:buFont typeface="Arial" pitchFamily="34" charset="0"/>
              <a:buChar char="•"/>
            </a:pPr>
            <a:r>
              <a:rPr lang="en-US" b="1" dirty="0" smtClean="0"/>
              <a:t>Resource </a:t>
            </a:r>
            <a:r>
              <a:rPr lang="en-US" b="1" dirty="0"/>
              <a:t>Management Teams</a:t>
            </a:r>
            <a:r>
              <a:rPr lang="en-US" dirty="0"/>
              <a:t> – To evaluate water, fertilizer, and pesticide usage. </a:t>
            </a:r>
          </a:p>
          <a:p>
            <a:pPr marL="285750" indent="-285750">
              <a:buFont typeface="Arial" pitchFamily="34" charset="0"/>
              <a:buChar char="•"/>
            </a:pPr>
            <a:r>
              <a:rPr lang="en-US" b="1" dirty="0" smtClean="0"/>
              <a:t>Agricultural </a:t>
            </a:r>
            <a:r>
              <a:rPr lang="en-US" b="1" dirty="0"/>
              <a:t>Organizations</a:t>
            </a:r>
            <a:r>
              <a:rPr lang="en-US" dirty="0"/>
              <a:t> – To improve crop selection, productivity, and profitability.</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Box 2"/>
          <p:cNvSpPr txBox="1"/>
          <p:nvPr/>
        </p:nvSpPr>
        <p:spPr>
          <a:xfrm>
            <a:off x="899886" y="1320800"/>
            <a:ext cx="10029371" cy="2308324"/>
          </a:xfrm>
          <a:prstGeom prst="rect">
            <a:avLst/>
          </a:prstGeom>
          <a:noFill/>
        </p:spPr>
        <p:txBody>
          <a:bodyPr wrap="square" rtlCol="0">
            <a:spAutoFit/>
          </a:bodyPr>
          <a:lstStyle/>
          <a:p>
            <a:pPr marL="285750" indent="-285750">
              <a:buFont typeface="Arial" pitchFamily="34" charset="0"/>
              <a:buChar char="•"/>
            </a:pPr>
            <a:r>
              <a:rPr lang="en-US" b="1" dirty="0"/>
              <a:t>Python</a:t>
            </a:r>
            <a:r>
              <a:rPr lang="en-US" dirty="0"/>
              <a:t> – Data analysis and statistical analysis </a:t>
            </a:r>
            <a:endParaRPr lang="en-US" dirty="0" smtClean="0"/>
          </a:p>
          <a:p>
            <a:pPr marL="285750" indent="-285750">
              <a:buFont typeface="Arial" pitchFamily="34" charset="0"/>
              <a:buChar char="•"/>
            </a:pPr>
            <a:r>
              <a:rPr lang="en-US" b="1" dirty="0" smtClean="0"/>
              <a:t>Google </a:t>
            </a:r>
            <a:r>
              <a:rPr lang="en-US" b="1" dirty="0" err="1"/>
              <a:t>Colab</a:t>
            </a:r>
            <a:r>
              <a:rPr lang="en-US" dirty="0"/>
              <a:t> – Development and execution environment </a:t>
            </a:r>
            <a:endParaRPr lang="en-US" dirty="0" smtClean="0"/>
          </a:p>
          <a:p>
            <a:pPr marL="285750" indent="-285750">
              <a:buFont typeface="Arial" pitchFamily="34" charset="0"/>
              <a:buChar char="•"/>
            </a:pPr>
            <a:r>
              <a:rPr lang="en-US" b="1" dirty="0" smtClean="0"/>
              <a:t>Pandas</a:t>
            </a:r>
            <a:r>
              <a:rPr lang="en-US" dirty="0" smtClean="0"/>
              <a:t> </a:t>
            </a:r>
            <a:r>
              <a:rPr lang="en-US" dirty="0"/>
              <a:t>– Data cleaning, preprocessing, and analysis </a:t>
            </a:r>
            <a:endParaRPr lang="en-US" dirty="0" smtClean="0"/>
          </a:p>
          <a:p>
            <a:pPr marL="285750" indent="-285750">
              <a:buFont typeface="Arial" pitchFamily="34" charset="0"/>
              <a:buChar char="•"/>
            </a:pPr>
            <a:r>
              <a:rPr lang="en-US" b="1" dirty="0" err="1" smtClean="0"/>
              <a:t>NumPy</a:t>
            </a:r>
            <a:r>
              <a:rPr lang="en-US" dirty="0" smtClean="0"/>
              <a:t> </a:t>
            </a:r>
            <a:r>
              <a:rPr lang="en-US" dirty="0"/>
              <a:t>– Numerical computations </a:t>
            </a:r>
            <a:endParaRPr lang="en-US" dirty="0" smtClean="0"/>
          </a:p>
          <a:p>
            <a:pPr marL="285750" indent="-285750">
              <a:buFont typeface="Arial" pitchFamily="34" charset="0"/>
              <a:buChar char="•"/>
            </a:pPr>
            <a:r>
              <a:rPr lang="en-US" b="1" dirty="0" err="1" smtClean="0"/>
              <a:t>Matplotlib</a:t>
            </a:r>
            <a:r>
              <a:rPr lang="en-US" dirty="0" smtClean="0"/>
              <a:t> </a:t>
            </a:r>
            <a:r>
              <a:rPr lang="en-US" dirty="0"/>
              <a:t>– Data visualization </a:t>
            </a:r>
            <a:endParaRPr lang="en-US" dirty="0" smtClean="0"/>
          </a:p>
          <a:p>
            <a:pPr marL="285750" indent="-285750">
              <a:buFont typeface="Arial" pitchFamily="34" charset="0"/>
              <a:buChar char="•"/>
            </a:pPr>
            <a:r>
              <a:rPr lang="en-US" b="1" dirty="0" err="1" smtClean="0"/>
              <a:t>Seaborn</a:t>
            </a:r>
            <a:r>
              <a:rPr lang="en-US" dirty="0" smtClean="0"/>
              <a:t> </a:t>
            </a:r>
            <a:r>
              <a:rPr lang="en-US" dirty="0"/>
              <a:t>– Statistical and comparative visualizations </a:t>
            </a:r>
            <a:endParaRPr lang="en-US" dirty="0" smtClean="0"/>
          </a:p>
          <a:p>
            <a:pPr marL="285750" indent="-285750">
              <a:buFont typeface="Arial" pitchFamily="34" charset="0"/>
              <a:buChar char="•"/>
            </a:pPr>
            <a:r>
              <a:rPr lang="en-US" b="1" dirty="0" err="1" smtClean="0"/>
              <a:t>SciPy</a:t>
            </a:r>
            <a:r>
              <a:rPr lang="en-US" dirty="0" smtClean="0"/>
              <a:t> </a:t>
            </a:r>
            <a:r>
              <a:rPr lang="en-US" dirty="0"/>
              <a:t>– Statistical testing such as ANOVA and </a:t>
            </a:r>
            <a:r>
              <a:rPr lang="en-US" dirty="0" err="1"/>
              <a:t>Kruskal</a:t>
            </a:r>
            <a:r>
              <a:rPr lang="en-US" dirty="0"/>
              <a:t>–Wallis tests </a:t>
            </a:r>
            <a:endParaRPr lang="en-US" dirty="0" smtClean="0"/>
          </a:p>
          <a:p>
            <a:pPr marL="285750" indent="-285750">
              <a:buFont typeface="Arial" pitchFamily="34" charset="0"/>
              <a:buChar char="•"/>
            </a:pPr>
            <a:r>
              <a:rPr lang="en-US" b="1" dirty="0" smtClean="0"/>
              <a:t>CSV </a:t>
            </a:r>
            <a:r>
              <a:rPr lang="en-US" b="1" dirty="0"/>
              <a:t>Dataset</a:t>
            </a:r>
            <a:r>
              <a:rPr lang="en-US" dirty="0"/>
              <a:t> – Primary data source for the analysis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82900" y="15960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1" y="990600"/>
            <a:ext cx="7069137"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353" y="4030617"/>
            <a:ext cx="7840663" cy="2634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AutoShape 2" descr="data:image/png;base64,iVBORw0KGgoAAAANSUhEUgAAAxYAAAHqCAYAAACZcdjsAAAAOnRFWHRTb2Z0d2FyZQBNYXRwbG90bGliIHZlcnNpb24zLjEwLjAsIGh0dHBzOi8vbWF0cGxvdGxpYi5vcmcvlHJYcgAAAAlwSFlzAAAPYQAAD2EBqD+naQAAUhBJREFUeJzt3Xt8z/X///H7ewcbOxq2kTkLy3lkUxFWwyI1Sh8xhw/FkESlRFRkFSHyqXxQrcSHpOU0Q5I5NMkxp2RO2xw3x43t9fujn/e3d6P23muzzW7Xy+V1uez9fD5fr9fj9V7vvO97vZ6vl8UwDEMAAAAAYIJDYRcAAAAAoPgjWAAAAAAwjWABAAAAwDSCBQAAAADTCBYAAAAATCNYAAAAADCNYAEAAADANIIFAAAAANMIFgAAAABMI1gAAPLV66+/LovFkuf1t27dqpYtW8rNzU0Wi0Xbt2/P9bpz586VxWLR77//bm178MEH9eCDD/7juhaLRYMHD7a/YACAJIIFgBJg5syZslgsatGiRWGXUuRUq1ZNFovFuri5uenee+/Vp59+Wij1XLt2Td26ddPZs2c1ZcoUffbZZ6patWqh1FJQfv/9d/Xp00c1a9aUq6ur/P391apVK40dO7awSwMAU5wKuwAAKGgxMTGqVq2atmzZooMHD6pWrVqFXVKR0rhxY73wwguSpJMnT+qTTz5RZGSkMjIy1L9/f7u3N3r0aL388st5quXQoUM6cuSIPv74Y/373//O0zaKsoMHD6p58+YqXbq0+vbtq2rVqunkyZPatm2bJk2apHHjxhV2iQCQZwQLAHe0w4cPa+PGjVq8eLGeeeYZxcTE3Pa/DGdnZyszM1Ourq63db+5ddddd+npp5+2vu7du7dq1KihKVOm5ClYODk5yckpb/+8pKamSpK8vb3ztH5RN2XKFF28eFHbt2/PcSbmxrEDQHHFpVAA7mgxMTEqW7aswsPD1bVrV8XExFj7rl27Jh8fH/Xp0yfHeunp6XJ1ddWIESOsbRkZGRo7dqxq1aolFxcXBQQE6MUXX1RGRobNujeu1Y+JidE999wjFxcXrVixQpL07rvvqmXLlipXrpxKly6toKAg/e9//8ux/ytXrmjo0KEqX768PDw81LlzZx0/flwWi0Wvv/66zdjjx4+rb9++8vPzk4uLi+655x7997//zfN7VqFCBdWtW1eHDh2yaf/hhx/UrVs3ValSxXr8zz//vK5cuWIz7mZzLG68J0uWLFH9+vWtdd54X6Q/Ak3r1q0lSd26dZPFYrHOjdixY4c18Ny4fKhv3746c+ZMno/zVmJiYlSnTh25uroqKChI69evt/atXbtWFotFX3/9dY71vvjiC1ksFiUkJNxy24cOHVLlypVvenmXr69vjrbly5frgQcekJubmzw8PBQeHq7du3fbjMnte3PhwgUNGzZM1apVk4uLi3x9ffXQQw9p27ZtNuMWLlyooKAglS5dWuXLl9fTTz+t48eP24zp3bu33N3ddfz4cXXp0kXu7u6qUKGCRowYoaysrFseP4A7G2csANzRYmJi9Pjjj6tUqVJ66qmn9OGHH2rr1q1q3ry5nJ2d9dhjj2nx4sX6z3/+o1KlSlnXW7JkiTIyMtS9e3dJf5x16Ny5szZs2KABAwaoXr162rlzp6ZMmaL9+/dryZIlNvtds2aNFixYoMGDB6t8+fKqVq2aJGnq1Knq3LmzevTooczMTM2fP1/dunVTbGyswsPDrev37t1bCxYsUM+ePRUcHKzvv//epv+GlJQUBQcHW7+4V6hQQcuXL1e/fv2Unp6uYcOG2f2eXb9+XceOHVPZsmVt2hcuXKjLly9r4MCBKleunLZs2aLp06fr2LFjWrhw4T9ud8OGDVq8eLEGDRokDw8PTZs2TREREUpKSlK5cuX0zDPP6K677tKECRM0dOhQNW/eXH5+fpKkuLg4/fbbb+rTp4/8/f21e/duffTRR9q9e7c2bdpkarL4n33//ff66quvNHToULm4uGjmzJlq3769tmzZovr16+vBBx9UQECAYmJi9Nhjj9msGxMTo5o1ayokJOSW269atapWr16tNWvWqG3btn9by2effabIyEiFhYVp0qRJunz5sj788EPdf//9+vnnn63/TeX2vXn22Wf1v//9T4MHD1ZgYKDOnDmjDRs2aO/evWratKmkPya/9+nTR82bN9fEiROVkpKiqVOn6scff9TPP/9scyYpKytLYWFhatGihd59912tXr1a7733nmrWrKmBAwfm4d0HUOwZAHCH+umnnwxJRlxcnGEYhpGdnW1UrlzZeO6556xjVq5caUgyvv32W5t1O3bsaNSoUcP6+rPPPjMcHByMH374wWbcrFmzDEnGjz/+aG2TZDg4OBi7d+/OUdPly5dtXmdmZhr169c32rZta21LTEw0JBnDhg2zGdu7d29DkjF27FhrW79+/YyKFSsap0+fthnbvXt3w8vLK8f+/qpq1arGww8/bJw6dco4deqUsXPnTqNnz56GJCMqKupvazcMw5g4caJhsViMI0eOWNvGjh1r/PWfF0lGqVKljIMHD1rbfvnlF0OSMX36dGvb2rVrDUnGwoUL/3HfX375pSHJWL9+vbVtzpw5hiTj8OHD1rbWrVsbrVu3/tv34UaNkoyffvrJ2nbkyBHD1dXVeOyxx6xto0aNMlxcXIzz589b21JTUw0nJyeb383N7Nq1yyhdurQhyWjcuLHx3HPPGUuWLDEuXbpkM+7ChQuGt7e30b9/f5v25ORkw8vLy6Y9t++Nl5dXjt/pn2VmZhq+vr5G/fr1jStXrljbY2NjDUnGmDFjrG2RkZGGJGP8+PE222jSpIkRFBT0t+8BgDsXl0IBuGPFxMTIz89Pbdq0kfTH5ThPPvmk5s+fb71co23btipfvry++uor63rnzp1TXFycnnzySWvbwoULVa9ePdWtW1enT5+2Ljf+6rx27Vqbfbdu3VqBgYE5aipdurTNftLS0vTAAw/YXI5y4/KgQYMG2aw7ZMgQm9eGYWjRokXq1KmTDMOwqSssLExpaWk5LnO5mVWrVqlChQqqUKGCGjRooM8++0x9+vTRO++8c8vaL126pNOnT6tly5YyDEM///zzP+4nNDRUNWvWtL5u2LChPD099dtvv/3jun/e99WrV3X69GkFBwdLUq6OMbdCQkIUFBRkfV2lShU9+uijWrlypfW/mV69eikjI8PmEravvvpK169ft5mrcjP33HOPtm/frqefflq///67pk6dqi5dusjPz08ff/yxdVxcXJzOnz+vp556yub36ujoqBYtWtj895bb98bb21ubN2/WiRMnblrbTz/9pNTUVA0aNMhmPlB4eLjq1q2r7777Lsc6zz77rM3rBx54IFe/TwB3JoIFgDtSVlaW5s+frzZt2ujw4cM6ePCgDh48qBYtWiglJUXx8fGS/phoHBERoW+++cY6V2Lx4sW6du2aTbA4cOCAdu/ebf0CfmO5++67JeWceFu9evWb1hUbG6vg4GC5urrKx8dHFSpU0Icffqi0tDTrmCNHjsjBwSHHNv56N6tTp07p/Pnz+uijj3LUdWPeSG4mBLdo0UJxcXFasWKF3n33XXl7e+vcuXM2l4ZJUlJSknr37i0fHx/rNfU35kT8uf5bqVKlSo62smXL6ty5c/+47tmzZ/Xcc8/Jz89PpUuXVoUKFazvT272nVu1a9fO0Xb33Xfr8uXLOnXqlCSpbt26at68uc18nZiYGAUHB+fqjmN33323PvvsM50+fVo7duzQhAkT5OTkpAEDBmj16tWS/vjvTfoj+P71d7tq1Sqb32tu35vo6Gjt2rVLAQEBuvfee/X666/bhIAjR45IkurUqZOj5rp161r7b3B1dVWFChVs2nL7+wRwZ2KOBYA70po1a3Ty5EnNnz9f8+fPz9EfExOjhx9+WJLUvXt3/ec//9Hy5cvVpUsXLViwQHXr1lWjRo2s47Ozs9WgQQNNnjz5pvsLCAiwef3nvyLf8MMPP6hz585q1aqVZs6cqYoVK8rZ2Vlz5szRF198YfcxZmdnS5KefvppRUZG3nRMw4YN/3E75cuXV2hoqCQpLCxMdevW1SOPPKKpU6dq+PDhkv4Iag899JDOnj2rl156SXXr1pWbm5uOHz+u3r17W2v5O46OjjdtNwzjH9d94okntHHjRo0cOVKNGzeWu7u7srOz1b59+1ztO7/16tVLzz33nI4dO6aMjAxt2rRJH3zwgV3bcHR0VIMGDdSgQQOFhISoTZs2iomJUWhoqPWYPvvsM/n7++dY98933crte/PEE0/ogQce0Ndff61Vq1bpnXfe0aRJk7R48WJ16NDB7vfgVr9PACUXwQLAHSkmJka+vr6aMWNGjr7Fixfr66+/1qxZs1S6dGm1atVKFStW1FdffaX7779fa9as0auvvmqzTs2aNfXLL7+oXbt2eZ4ovGjRIrm6umrlypVycXGxts+ZM8dmXNWqVZWdna3Dhw/b/AX94MGDNuMqVKggDw8PZWVlWYNBfggPD1fr1q01YcIEPfPMM3Jzc9POnTu1f/9+zZs3T7169bKOjYuLy7f93sq5c+cUHx+vcePGacyYMdb2G3/Vz0832+b+/ftVpkwZm7/Od+/eXcOHD9eXX36pK1euyNnZ2eYMl72aNWsm6Y/niEiyXjLm6+v7t79be9+bihUratCgQRo0aJBSU1PVtGlTvfXWW+rQoYP1TlX79u3LMbF83759d9yDCgHkPy6FAnDHuXLlihYvXqxHHnlEXbt2zbEMHjxYFy5c0NKlSyVJDg4O6tq1q7799lt99tlnun79eo4viU888YSOHz9ucx38n/d36dKlf6zL0dFRFovF5nacv//+e447SoWFhUn644nhfzZ9+vQc24uIiNCiRYu0a9euHPu7celOXrz00ks6c+aM9Xhv/HX6z2cXDMPQ1KlT87yP3LrZviXp/fffz/d9JSQk2MxLOHr0qL755hs9/PDDNn+hL1++vDp06KDPP/9cMTExat++vcqXL/+P2//hhx907dq1HO3Lli2T9H+XIYWFhcnT01MTJky46fgbv9vcvjdZWVk5Lhnz9fVVpUqVrJcANmvWTL6+vpo1a5bNLZSXL1+uvXv33vSuZADwZ5yxAHDHWbp0qS5cuKDOnTvftD84OFgVKlRQTEyMNUA8+eSTmj59usaOHasGDRqoXr16Nuv07NlTCxYs0LPPPqu1a9fqvvvuU1ZWln799VctWLBAK1eutP7V+VbCw8M1efJktW/fXv/617+UmpqqGTNmqFatWtqxY4d1XFBQkCIiIvT+++/rzJkz1tvN7t+/X5Jszpi8/fbbWrt2rVq0aKH+/fsrMDBQZ8+e1bZt27R69WqdPXs2T+9hhw4dVL9+fU2ePFlRUVGqW7euatasqREjRuj48ePy9PTUokWLbsv19J6enmrVqpWio6N17do13XXXXVq1apUOHz6c7/uqX7++wsLCbG43K+mmT8Tu1auXunbtKkl64403crX9SZMmKTExUY8//rj1MrVt27bp008/lY+Pj/X2wJ6envrwww/Vs2dPNW3aVN27d1eFChWUlJSk7777Tvfdd58++OCDXL83Fy5cUOXKldW1a1c1atRI7u7uWr16tbZu3ar33ntPkuTs7KxJkyapT58+at26tZ566inr7WarVaum559/Pk/vKYASpPBuSAUABaNTp06Gq6trjlt4/lnv3r0NZ2dn621as7OzjYCAAEOS8eabb950nczMTGPSpEnGPffcY7i4uBhly5Y1goKCjHHjxhlpaWnWcbrJrVpvmD17tlG7dm3DxcXFqFu3rjFnzpyb3p710qVLRlRUlOHj42O4u7sbXbp0Mfbt22dIMt5++22bsSkpKUZUVJQREBBgODs7G/7+/ka7du2Mjz766B/fq6pVqxrh4eE37Zs7d64hyZgzZ45hGIaxZ88eIzQ01HB3dzfKly9v9O/f33rL2BtjDOPWt5u92XtStWpVIzIy0vr6VrebPXbsmPHYY48Z3t7ehpeXl9GtWzfjxIkTOW6/a/Z2s1FRUcbnn39u/R01adLEWLt27U3HZ2RkGGXLljW8vLxsbs/6d3788UcjKirKqF+/vuHl5WU4OzsbVapUMXr37m0cOnQox/i1a9caYWFhhpeXl+Hq6mrUrFnT6N27t80tcXPz3mRkZBgjR440GjVqZHh4eBhubm5Go0aNjJkzZ+bY51dffWU0adLEcHFxMXx8fIwePXoYx44dsxkTGRlpuLm55Vj3Zr97ACWHxTByMWsOAFDotm/friZNmujzzz9Xjx49CrucEu/69euqVKmSOnXqpNmzZxd2OQBQ6JhjAQBF0JUrV3K0vf/++3JwcFCrVq0KoSL81ZIlS3Tq1CmbyewAUJIxxwIAiqDo6GglJiaqTZs2cnJy0vLly7V8+XINGDAgx61tcXtt3rxZO3bs0BtvvKEmTZpYn+UBACUdl0IBQBEUFxencePGac+ePbp48aKqVKminj176tVXX7V5hgFuv969e+vzzz9X48aNNXfuXNWvX7+wSwKAIoFgAQAAAMA05lgAAAAAMI1gAQAAAMA0LtSVlJ2drRMnTsjDw8PmwVMAAABASWYYhi5cuKBKlSrJweHvz0kQLCSdOHGCu6wAAAAAt3D06FFVrlz5b8cQLCR5eHhI+uMN8/T0LORqAAAAgKIhPT1dAQEB1u/Lf4dgIVkvf/L09CRYAAAAAH+Rm+kCTN4GAAAAYBrBAgAAAIBpBAsAAAAAphEsAAAAAJhGsAAAAABgGsECAAAAgGkECwAAAACmESwAAAAAmEawAAAAAGAawQIAAACAaQQLAAAAAKYRLAAAAACYRrAAAAAAYBrBAgAAAIBpBAsAAAAAphEsAAAAAJhGsAAAAABgmlNhF1ASBI38tLBLAApF4ju9CrsEAABwm3DGAgAAAIBpBAsAAAAAphEsAAAAAJhGsAAAAABgGsECAAAAgGkECwAAAACmESwAAAAAmEawAAAAAGAawQIAAACAaQQLAAAAAKYRLAAAAACYRrAAAAAAYBrBAgAAAIBpBAsAAAAAphEsAAAAAJhGsAAAAABgWqEGi6ysLL322muqXr26SpcurZo1a+qNN96QYRjWMYZhaMyYMapYsaJKly6t0NBQHThwwGY7Z8+eVY8ePeTp6Slvb2/169dPFy9evN2HAwAAAJRYhRosJk2apA8//FAffPCB9u7dq0mTJik6OlrTp0+3jomOjta0adM0a9Ysbd68WW5ubgoLC9PVq1etY3r06KHdu3crLi5OsbGxWr9+vQYMGFAYhwQAAACUSE6FufONGzfq0UcfVXh4uCSpWrVq+vLLL7VlyxZJf5yteP/99zV69Gg9+uijkqRPP/1Ufn5+WrJkibp37669e/dqxYoV2rp1q5o1ayZJmj59ujp27Kh3331XlSpVKpyDAwAAAEqQQj1j0bJlS8XHx2v//v2SpF9++UUbNmxQhw4dJEmHDx9WcnKyQkNDret4eXmpRYsWSkhIkCQlJCTI29vbGiokKTQ0VA4ODtq8efNtPBoAAACg5CrUMxYvv/yy0tPTVbduXTk6OiorK0tvvfWWevToIUlKTk6WJPn5+dms5+fnZ+1LTk6Wr6+vTb+Tk5N8fHysY/4qIyNDGRkZ1tfp6en5dkwAAABASVSoZywWLFigmJgYffHFF9q2bZvmzZund999V/PmzSvQ/U6cOFFeXl7WJSAgoED3BwAAANzpCjVYjBw5Ui+//LK6d++uBg0aqGfPnnr++ec1ceJESZK/v78kKSUlxWa9lJQUa5+/v79SU1Nt+q9fv66zZ89ax/zVqFGjlJaWZl2OHj2a34cGAAAAlCiFGiwuX74sBwfbEhwdHZWdnS1Jql69uvz9/RUfH2/tT09P1+bNmxUSEiJJCgkJ0fnz55WYmGgds2bNGmVnZ6tFixY33a+Li4s8PT1tFgAAAAB5V6hzLDp16qS33npLVapU0T333KOff/5ZkydPVt++fSVJFotFw4YN05tvvqnatWurevXqeu2111SpUiV16dJFklSvXj21b99e/fv316xZs3Tt2jUNHjxY3bt3545QAAAAwG1SqMFi+vTpeu211zRo0CClpqaqUqVKeuaZZzRmzBjrmBdffFGXLl3SgAEDdP78ed1///1asWKFXF1drWNiYmI0ePBgtWvXTg4ODoqIiNC0adMK45AAAACAEsli/Pkx1yVUenq6vLy8lJaWViCXRQWN/DTftwkUB4nv9CrsEgAAgAn2fE8u1DkWAAAAAO4MBAsAAAAAphEsAAAAAJhGsAAAAABgGsECAAAAgGkECwAAAACmESwAAAAAmEawAAAAAGAawQIAAACAaQQLAAAAAKYRLAAAAACYRrAAAAAAYBrBAgAAAIBpBAsAAAAAphEsAAAAAJhGsAAAAABgGsECAAAAgGkECwAAAACmESwAAAAAmEawAAAAAGAawQIAAACAaQQLAAAAAKYRLAAAAACYRrAAAAAAYBrBAgAAAIBpBAsAAAAAphEsAAAAAJhGsAAAAABgGsECAAAAgGkECwAAAACmESwAAAAAmEawAAAAAGAawQIAAACAaQQLAAAAAKYRLAAAAACYVqjBolq1arJYLDmWqKgoSdLVq1cVFRWlcuXKyd3dXREREUpJSbHZRlJSksLDw1WmTBn5+vpq5MiRun79emEcDgAAAFBiFWqw2Lp1q06ePGld4uLiJEndunWTJD3//PP69ttvtXDhQn3//fc6ceKEHn/8cev6WVlZCg8PV2ZmpjZu3Kh58+Zp7ty5GjNmTKEcDwAAAFBSWQzDMAq7iBuGDRum2NhYHThwQOnp6apQoYK++OILde3aVZL066+/ql69ekpISFBwcLCWL1+uRx55RCdOnJCfn58kadasWXrppZd06tQplSpVKlf7TU9Pl5eXl9LS0uTp6ZnvxxU08tN83yZQHCS+06uwSwAAACbY8z25yMyxyMzM1Oeff66+ffvKYrEoMTFR165dU2hoqHVM3bp1VaVKFSUkJEiSEhIS1KBBA2uokKSwsDClp6dr9+7dt9xXRkaG0tPTbRYAAAAAeVdkgsWSJUt0/vx59e7dW5KUnJysUqVKydvb22acn5+fkpOTrWP+HCpu9N/ou5WJEyfKy8vLugQEBOTfgQAAAAAlUJEJFrNnz1aHDh1UqVKlAt/XqFGjlJaWZl2OHj1a4PsEAAAA7mROhV2AJB05ckSrV6/W4sWLrW3+/v7KzMzU+fPnbc5apKSkyN/f3zpmy5YtNtu6cdeoG2NuxsXFRS4uLvl4BAAAAEDJViTOWMyZM0e+vr4KDw+3tgUFBcnZ2Vnx8fHWtn379ikpKUkhISGSpJCQEO3cuVOpqanWMXFxcfL09FRgYODtOwAAAACghCv0MxbZ2dmaM2eOIiMj5eT0f+V4eXmpX79+Gj58uHx8fOTp6akhQ4YoJCREwcHBkqSHH35YgYGB6tmzp6Kjo5WcnKzRo0crKiqKMxIAAADAbVTowWL16tVKSkpS3759c/RNmTJFDg4OioiIUEZGhsLCwjRz5kxrv6Ojo2JjYzVw4ECFhITIzc1NkZGRGj9+/O08BAAAAKDEK1LPsSgsPMcCKBg8xwIAgOKtWD7HAgAAAEDxRbAAAAAAYBrBAgAAAIBpBAsAAAAAphEsAAAAAJhGsAAAAABgGsECAAAAgGkECwAAAACmESwAAAAAmEawAAAAAGAawQIAAACAaQQLAAAAAKYRLAAAAACYRrAAAAAAYBrBAgAAAIBpBAsAAAAAphEsAAAAAJhGsAAAAABgGsECAAAAgGkECwAAAACmESwAAAAAmEawAAAAAGAawQIAAACAaQQLAAAAAKYRLAAAAACYRrAAAAAAYBrBAgAAAIBpBAsAAAAAphEsAAAAAJhGsAAAAABgGsECAAAAgGkECwAAAACmOdkzODs7W99//71++OEHHTlyRJcvX1aFChXUpEkThYaGKiAgoKDqBAAAAFCE5eqMxZUrV/Tmm28qICBAHTt21PLly3X+/Hk5Ojrq4MGDGjt2rKpXr66OHTtq06ZNBV0zAAAAgCImV8Hi7rvv1o4dO/Txxx8rPT1dCQkJWrRokT7//HMtW7ZMSUlJOnTokB544AF1795dH3/8ca4LOH78uJ5++mmVK1dOpUuXVoMGDfTTTz9Z+w3D0JgxY1SxYkWVLl1aoaGhOnDggM02zp49qx49esjT01Pe3t7q16+fLl68mOsaAAAAAJiTq2CxatUqLViwQB07dpSzs/NNx1StWlWjRo3SgQMH1LZt21zt/Ny5c7rvvvvk7Oys5cuXa8+ePXrvvfdUtmxZ65jo6GhNmzZNs2bN0ubNm+Xm5qawsDBdvXrVOqZHjx7avXu34uLiFBsbq/Xr12vAgAG5qgEAAACAeRbDMIzC2vnLL7+sH3/8UT/88MNN+w3DUKVKlfTCCy9oxIgRkqS0tDT5+flp7ty56t69u/bu3avAwEBt3bpVzZo1kyStWLFCHTt21LFjx1SpUqV/rCM9PV1eXl5KS0uTp6dn/h3g/xc08tN83yZQHCS+06uwSwAAACbY8z05T3eFunr1qrZs2aLY2FgtXbrUZrHH0qVL1axZM3Xr1k2+vr5q0qSJzWVUhw8fVnJyskJDQ61tXl5eatGihRISEiRJCQkJ8vb2toYKSQoNDZWDg4M2b96cl8MDAAAAYCe77gol/XE2oFevXjp9+nSOPovFoqysrFxv67ffftOHH36o4cOH65VXXtHWrVs1dOhQlSpVSpGRkUpOTpYk+fn52azn5+dn7UtOTpavr6/tQTk5ycfHxzrmrzIyMpSRkWF9nZ6enuuaAQAAAORk9xmLIUOGqFu3bjp58qSys7NtFntChfTH7WubNm2qCRMmqEmTJhowYID69++vWbNm2VuWXSZOnCgvLy/rwm1yAQAAAHPsDhYpKSkaPnx4jrMIeVGxYkUFBgbatNWrV09JSUmSJH9/f+s+/1rDjT5/f3+lpqba9F+/fl1nz561jvmrUaNGKS0tzbocPXrU9LEAAAAAJZndwaJr165at25dvuz8vvvu0759+2za9u/fr6pVq0qSqlevLn9/f8XHx1v709PTtXnzZoWEhEiSQkJCdP78eSUmJlrHrFmzRtnZ2WrRosVN9+vi4iJPT0+bBQAAAEDe2T3H4oMPPlC3bt30ww8/qEGDBjluPzt06NBcb+v5559Xy5YtNWHCBD3xxBPasmWLPvroI3300UeS/pizMWzYML355puqXbu2qlevrtdee02VKlVSly5dJP1xhqN9+/bWS6iuXbumwYMHq3v37rm6IxQAAAAA8+wOFl9++aVWrVolV1dXrVu3ThaLxdpnsVjsChbNmzfX119/rVGjRmn8+PGqXr263n//ffXo0cM65sUXX9SlS5c0YMAAnT9/Xvfff79WrFghV1dX65iYmBgNHjxY7dq1k4ODgyIiIjRt2jR7Dw0AAABAHtn9HAt/f38NHTpUL7/8shwc8nS32iKH51gABYPnWAAAULwV6HMsMjMz9eSTT94xoQIAAACAeXang8jISH311VcFUQsAAACAYsruORZZWVmKjo7WypUr1bBhwxyTtydPnpxvxQEAAAAoHuwOFjt37lSTJk0kSbt27bLp+/NEbgAAAAAlh93BYu3atQVRBwAAAIBijBnYAAAAAEyz+4zF1atXNX36dK1du1apqanKzs626d+2bVu+FQcAAACgeLA7WPTr10+rVq1S165dde+99zKvAgAAAID9wSI2NlbLli3TfffdVxD1AAAAACiG7J5jcdddd8nDw6MgagEAAABQTNkdLN577z299NJLOnLkSEHUAwAAAKAYsvtSqGbNmunq1auqUaOGypQpk+MBeWfPns234gAAAAAUD3YHi6eeekrHjx/XhAkT5Ofnx+RtAAAAAPYHi40bNyohIUGNGjUqiHoAAAAAFEN2z7GoW7eurly5UhC1AAAAACim7A4Wb7/9tl544QWtW7dOZ86cUXp6us0CAAAAoOSx+1Ko9u3bS5LatWtn024YhiwWi7KysvKnMgAAAADFht3BYu3atQVRBwAAAIBizO5g0bp164KoAwAAAEAxlqs5FklJSXZt9Pjx43kqBgAAAEDxlKtg0bx5cz3zzDPaunXrLcekpaXp448/Vv369bVo0aJ8KxAAAABA0ZerS6H27Nmjt956Sw899JBcXV0VFBSkSpUqydXVVefOndOePXu0e/duNW3aVNHR0erYsWNB1w0AAACgCMnVGYty5cpp8uTJOnnypD744APVrl1bp0+f1oEDByRJPXr0UGJiohISEggVAAAAQAlk1+Tt0qVLq2vXruratWtB1QMAAACgGLL7AXkAAAAA8FcECwAAAACmESwAAAAAmEawAAAAAGAawQIAAACAabm6K9TSpUtzvcHOnTvnuRgAAAAAxVOugkWXLl1ytTGLxaKsrCwz9QAAAAAohnIVLLKzswu6DgAAAADFGHMsAAAAAJiWqzMW06ZNy/UGhw4dmudiAAAAABRPuQoWU6ZMydXGLBaLXcHi9ddf17hx42za6tSpo19//VWSdPXqVb3wwguaP3++MjIyFBYWppkzZ8rPz886PikpSQMHDtTatWvl7u6uyMhITZw4UU5OuTo0AAAAAPkgV9++Dx8+XGAF3HPPPVq9evX/FfSnQPD888/ru+++08KFC+Xl5aXBgwfr8ccf148//ihJysrKUnh4uPz9/bVx40adPHlSvXr1krOzsyZMmFBgNQMAAACwVeh/1ndycpK/v3+O9rS0NM2ePVtffPGF2rZtK0maM2eO6tWrp02bNik4OFirVq3Snj17tHr1avn5+alx48Z644039NJLL+n1119XqVKlbvfhAAAAACVSnoLFsWPHtHTpUiUlJSkzM9Omb/LkyXZt68CBA6pUqZJcXV0VEhKiiRMnqkqVKkpMTNS1a9cUGhpqHVu3bl1VqVJFCQkJCg4OVkJCgho0aGBzaVRYWJgGDhyo3bt3q0mTJnk5PAAAAAB2sjtYxMfHq3PnzqpRo4Z+/fVX1a9fX7///rsMw1DTpk3t2laLFi00d+5c1alTRydPntS4ceP0wAMPaNeuXUpOTlapUqXk7e1ts46fn5+Sk5MlScnJyTah4kb/jb5bycjIUEZGhvV1enq6XXUDAAAAsGV3sBg1apRGjBihcePGycPDQ4sWLZKvr6969Oih9u3b27WtDh06WH9u2LChWrRooapVq2rBggUqXbq0vaXl2sSJE3NMGgcAAACQd3Y/x2Lv3r3q1auXpD/mR1y5ckXu7u4aP368Jk2aZKoYb29v3X333Tp48KD8/f2VmZmp8+fP24xJSUmxzsnw9/dXSkpKjv4bfbcyatQopaWlWZejR4+aqhsAAAAo6ewOFm5ubtZ5FRUrVtShQ4esfadPnzZVzMWLF3Xo0CFVrFhRQUFBcnZ2Vnx8vLV/3759SkpKUkhIiCQpJCREO3fuVGpqqnVMXFycPD09FRgYeMv9uLi4yNPT02YBAAAAkHd2XwoVHBysDRs2qF69eurYsaNeeOEF7dy5U4sXL1ZwcLBd2xoxYoQ6deqkqlWr6sSJExo7dqwcHR311FNPycvLS/369dPw4cPl4+MjT09PDRkyRCEhIdb9PPzwwwoMDFTPnj0VHR2t5ORkjR49WlFRUXJxcbH30AAAAADkkd3BYvLkybp48aIkady4cbp48aK++uor1a5d2+47Qh07dkxPPfWUzpw5owoVKuj+++/Xpk2bVKFCBUl/PJjPwcFBERERNg/Iu8HR0VGxsbEaOHCgQkJC5ObmpsjISI0fP97ewwIAAABggsUwDOOfBk2bNk0DBgyQq6urkpKSFBAQIIvFcjvquy3S09Pl5eWltLS0ArksKmjkp/m+TaA4SHynV2GXAAAATLDne3Ku5lgMHz7cekvW6tWr69SpU+arBAAAAHDHyNWlUJUqVdKiRYvUsWNHGYahY8eO6erVqzcdW6VKlXwtEAAAAEDRl6tgMXr0aA0ZMkSDBw+WxWJR8+bNc4wxDEMWi0VZWVn5XiQAAACAoi1XwWLAgAF66qmndOTIETVs2FCrV69WuXLlCro2AAAAAMVEru8K5eHhofr162vOnDm67777uJ0rAAAAACu7bzcbGRkpScrMzFRqaqqys7Nt+pljAQAAAJQ8dgeLAwcOqG/fvtq4caNNO3MsAAAAgJLL7mDRu3dvOTk5KTY2VhUrVryjnmcBAAAAIG/sDhbbt29XYmKi6tatWxD1AAAAACiGcvWAvD8LDAzU6dOnC6IWAAAAAMWU3cFi0qRJevHFF7Vu3TqdOXNG6enpNgsAAACAksfuS6FCQ0MlSe3atbNpZ/I2AAAAUHLZHSzWrl1bEHUAAAAAKMbsDhatW7cuiDoAAAAAFGO5ChY7duxQ/fr15eDgoB07dvzt2IYNG+ZLYQAAAACKj1wFi8aNGys5OVm+vr5q3LixLBaLDMPIMY45FgAAAEDJlKtgcfjwYVWoUMH6MwAAAAD8Wa6CRdWqVW/6MwAAAABIeZi8fcOePXuUlJSkzMxMm/bOnTubLgoAAABA8WJ3sPjtt9/02GOPaefOnTZzLSwWiyQxxwIAAAAogex+8vZzzz2n6tWrKzU1VWXKlNHu3bu1fv16NWvWTOvWrSuAEgEAAAAUdXafsUhISNCaNWtUvnx5OTg4yMHBQffff78mTpyooUOH6ueffy6IOgEAAAAUYXYHi6ysLHl4eEiSypcvrxMnTqhOnTqqWrWq9u3bl+8FAkBhCRr5aWGXANx2ie/0KuwSABRTdgeL+vXr65dfflH16tXVokULRUdHq1SpUvroo49Uo0aNgqgRAAAAQBFnd7AYPXq0Ll26JEkaP368HnnkET3wwAMqV66c5s+fn+8FAgAAACj67A4WYWFh1p9r1aqlX3/9VWfPnlXZsmWtd4YCAAAAULLYfVeom/Hx8VFycrIGDx6cH5sDAAAAUMzYdcZi9+7dWrt2rUqVKqUnnnhC3t7eOn36tN5880395z//YY4FAAAAUELl+ozF0qVL1aRJEw0dOlTPPvusmjVrprVr16pevXr69ddf9fXXX2v37t0FWSsAAACAIirXweLNN99UVFSU0tPTNXnyZP32228aOnSoli1bphUrVqh9+/YFWScAAACAIizXwWLfvn2KioqSu7u7hgwZIgcHB02ZMkXNmzcvyPoAAAAAFAO5DhYXLlyQp6enJMnR0VGlS5dmTgUAAAAASXZO3l65cqW8vLwkSdnZ2YqPj9euXbtsxnTu3Dn/qgMAAABQLNgVLCIjI21eP/PMMzavLRaLsrKyzFcFAAAAoFjJdbDIzs4uyDoAAAAAFGP58oC8/PD222/LYrFo2LBh1rarV68qKipK5cqVk7u7uyIiIpSSkmKzXlJSksLDw1WmTBn5+vpq5MiRun79+m2uHgAAACjZikSw2Lp1q/7zn/+oYcOGNu3PP/+8vv32Wy1cuFDff/+9Tpw4occff9zan5WVpfDwcGVmZmrjxo2aN2+e5s6dqzFjxtzuQwAAAABKtEIPFhcvXlSPHj308ccfq2zZstb2tLQ0zZ49W5MnT1bbtm0VFBSkOXPmaOPGjdq0aZMkadWqVdqzZ48+//xzNW7cWB06dNAbb7yhGTNmKDMzs7AOCQAAAChxCj1YREVFKTw8XKGhoTbtiYmJunbtmk173bp1VaVKFSUkJEiSEhIS1KBBA/n5+VnHhIWFKT09/W+fAp6RkaH09HSbBQAAAEDe2XVXqPw2f/58bdu2TVu3bs3Rl5ycrFKlSsnb29um3c/PT8nJydYxfw4VN/pv9N3KxIkTNW7cOJPVAwAAALghT2cszp8/r08++USjRo3S2bNnJUnbtm3T8ePHc72No0eP6rnnnlNMTIxcXV3zUkaejRo1Smlpadbl6NGjt3X/AAAAwJ3G7jMWO3bsUGhoqLy8vPT777+rf//+8vHx0eLFi5WUlKRPP/00V9tJTExUamqqmjZtam3LysrS+vXr9cEHH2jlypXKzMzU+fPnbc5apKSkyN/fX5Lk7++vLVu22Gz3xl2jboy5GRcXF7m4uOT2kAEAAAD8A7vPWAwfPly9e/fWgQMHbM40dOzYUevXr8/1dtq1a6edO3dq+/bt1qVZs2bq0aOH9WdnZ2fFx8db19m3b5+SkpIUEhIiSQoJCdHOnTuVmppqHRMXFydPT08FBgbae2gAAAAA8sjuMxY3bg37V3fdddffzmv4Kw8PD9WvX9+mzc3NTeXKlbO29+vXT8OHD5ePj488PT01ZMgQhYSEKDg4WJL08MMPKzAwUD179lR0dLSSk5M1evRoRUVFcUYCAAAAuI3sDhYuLi43vYvS/v37VaFChXwp6oYpU6bIwcFBERERysjIUFhYmGbOnGntd3R0VGxsrAYOHKiQkBC5ubkpMjJS48ePz9c6AAAAAPw9u4NF586dNX78eC1YsECSZLFYlJSUpJdeekkRERGmilm3bp3Na1dXV82YMUMzZsy45TpVq1bVsmXLTO0XAAAAgDl2z7F47733dPHiRfn6+urKlStq3bq1atWqJQ8PD7311lsFUSMAAACAIs7uMxZeXl6Ki4vThg0btGPHDl28eFFNmzbN8YA7AAAAACVHnh+Qd//99+v+++/Pz1oAAAAAFFN2B4tp06bdtN1iscjV1VW1atVSq1at5OjoaLo4AAAAAMWD3cFiypQpOnXqlC5fvqyyZctKks6dO6cyZcrI3d1dqampqlGjhtauXauAgIB8LxgAAABA0WP35O0JEyaoefPmOnDggM6cOaMzZ85o//79atGihaZOnaqkpCT5+/vr+eefL4h6AQAAABRBdp+xGD16tBYtWqSaNWta22rVqqV3331XERER+u233xQdHW361rMAAAAAig+7z1icPHlS169fz9F+/fp165O3K1WqpAsXLpivDgAAAECxYHewaNOmjZ555hn9/PPP1raff/5ZAwcOVNu2bSVJO3fuVPXq1fOvSgAAAABFmt3BYvbs2fLx8VFQUJBcXFzk4uKiZs2aycfHR7Nnz5Ykubu767333sv3YgEAAAAUTXbPsfD391dcXJx+/fVX7d+/X5JUp04d1alTxzqmTZs2+VchAAAAgCIvzw/Iq1u3rurWrZuftQAAAAAopvIULI4dO6alS5cqKSlJmZmZNn2TJ0/Ol8IAAAAAFB92B4v4+Hh17txZNWrU0K+//qr69evr999/l2EYatq0aUHUCAAAAKCIs3vy9qhRozRixAjt3LlTrq6uWrRokY4eParWrVurW7duBVEjAAAAgCLO7mCxd+9e9erVS5Lk5OSkK1euyN3dXePHj9ekSZPyvUAAAAAARZ/dwcLNzc06r6JixYo6dOiQte/06dP5VxkAAACAYsPuORbBwcHasGGD6tWrp44dO+qFF17Qzp07tXjxYgUHBxdEjQAAAACKOLuDxeTJk3Xx4kVJ0rhx43Tx4kV99dVXql27NneEAgAAAEoou4JFVlaWjh07poYNG0r647KoWbNmFUhhAAAAAIoPu+ZYODo66uGHH9a5c+cKqh4AAAAAxZDdk7fr16+v3377rSBqAQAAAFBM2R0s3nzzTY0YMUKxsbE6efKk0tPTbRYAAAAAJY/dk7c7duwoSercubMsFou13TAMWSwWZWVl5V91AAAAAIoFu4PF2rVrC6IOAAAAAMWY3cGidevWBVEHAAAAgGLM7jkWkvTDDz/o6aefVsuWLXX8+HFJ0meffaYNGzbka3EAAAAAige7g8WiRYsUFham0qVLa9u2bcrIyJAkpaWlacKECfleIAAAAICiL093hZo1a5Y+/vhjOTs7W9vvu+8+bdu2LV+LAwAAAFA82B0s9u3bp1atWuVo9/Ly0vnz5/OjJgAAAADFjN3Bwt/fXwcPHszRvmHDBtWoUSNfigIAAABQvNgdLPr376/nnntOmzdvlsVi0YkTJxQTE6MRI0Zo4MCBBVEjAAAAgCLO7tvNvvzyy8rOzla7du10+fJltWrVSi4uLhoxYoSGDBlSEDUCAAAAKOLsDhYWi0WvvvqqRo4cqYMHD+rixYsKDAyUu7t7QdQHAAAAoBiw+1Kozz//XJcvX1apUqUUGBioe++9N8+h4sMPP1TDhg3l6ekpT09PhYSEaPny5db+q1evKioqSuXKlZO7u7siIiKUkpJis42kpCSFh4erTJky8vX11ciRI3X9+vU81QMAAAAgb+wOFs8//7x8fX31r3/9S8uWLVNWVlaed165cmW9/fbbSkxM1E8//aS2bdvq0Ucf1e7du637+vbbb7Vw4UJ9//33OnHihB5//HHr+llZWQoPD1dmZqY2btyoefPmae7cuRozZkyeawIAAABgP7uDxcmTJzV//nxZLBY98cQTqlixoqKiorRx40a7d96pUyd17NhRtWvX1t1336233npL7u7u2rRpk9LS0jR79mxNnjxZbdu2VVBQkObMmaONGzdq06ZNkqRVq1Zpz549+vzzz9W4cWN16NBBb7zxhmbMmKHMzEy76wEAAACQN3bPsXByctIjjzyiRx55RJcvX9bXX3+tL774Qm3atFHlypV16NChPBWSlZWlhQsX6tKlSwoJCVFiYqKuXbum0NBQ65i6deuqSpUqSkhIUHBwsBISEtSgQQP5+flZx4SFhWngwIHavXu3mjRpkqdaAABA8RQ08tPCLgG47RLf6VXYJUjKQ7D4szJlyigsLEznzp3TkSNHtHfvXru3sXPnToWEhOjq1atyd3fX119/rcDAQG3fvl2lSpWSt7e3zXg/Pz8lJydLkpKTk21CxY3+G323kpGRoYyMDOvr9PR0u+sGAAAA8H/svhRKki5fvqyYmBh17NhRd911l95//3099thj1rkR9qhTp462b9+uzZs3a+DAgYqMjNSePXvyUlauTZw4UV5eXtYlICCgQPcHAAAA3OnsPmPRvXt3xcbGqkyZMnriiSf02muvKSQkJM8FlCpVSrVq1ZIkBQUFaevWrZo6daqefPJJZWZm6vz58zZnLVJSUuTv7y/pj6eAb9myxWZ7N+4adWPMzYwaNUrDhw+3vk5PTydcAAAAACbYfcbC0dFRCxYs0MmTJ/XBBx/YhIpdu3aZLig7O1sZGRkKCgqSs7Oz4uPjrX379u1TUlKSdZ8hISHauXOnUlNTrWPi4uLk6empwMDAW+7DxcXFeovbGwsAAACAvLP7jEVMTIzN6wsXLujLL7/UJ598osTERLtuPztq1Ch16NBBVapU0YULF/TFF19o3bp1Wrlypby8vNSvXz8NHz5cPj4+8vT01JAhQxQSEqLg4GBJ0sMPP6zAwED17NlT0dHRSk5O1ujRoxUVFSUXFxd7Dw0AAABAHuV58vb69es1e/ZsLVq0SJUqVdLjjz+uGTNm2LWN1NRU9erVSydPnpSXl5caNmyolStX6qGHHpIkTZkyRQ4ODoqIiFBGRobCwsI0c+ZM6/qOjo6KjY3VwIEDFRISIjc3N0VGRmr8+PF5PSwAAAAAeWBXsEhOTtbcuXM1e/Zspaen64knnlBGRoaWLFnyt5ce3crs2bP/tt/V1VUzZsz428BStWpVLVu2zO59AwAAAMg/uZ5j0alTJ9WpU0c7duzQ+++/rxMnTmj69OkFWRsAAACAYiLXZyyWL1+uoUOHauDAgapdu3ZB1gQAAACgmMn1GYsNGzbowoULCgoKUosWLfTBBx/o9OnTBVkbAAAAgGIi18EiODhYH3/8sU6ePKlnnnlG8+fPV6VKlZSdna24uDhduHChIOsEAAAAUITZ/RwLNzc39e3bVxs2bNDOnTv1wgsv6O2335avr686d+5cEDUCAAAAKOLsDhZ/VqdOHUVHR+vYsWP68ssv86smAAAAAMWMqWBxg6Ojo7p06aKlS5fmx+YAAAAAFDP5EiwAAAAAlGwECwAAAACmESwAAAAAmEawAAAAAGAawQIAAACAaQQLAAAAAKYRLAAAAACYRrAAAAAAYBrBAgAAAIBpBAsAAAAAphEsAAAAAJhGsAAAAABgGsECAAAAgGkECwAAAACmESwAAAAAmEawAAAAAGAawQIAAACAaQQLAAAAAKYRLAAAAACYRrAAAAAAYBrBAgAAAIBpBAsAAAAAphEsAAAAAJhGsAAAAABgGsECAAAAgGkECwAAAACmESwAAAAAmEawAAAAAGBaoQaLiRMnqnnz5vLw8JCvr6+6dOmiffv22Yy5evWqoqKiVK5cObm7uysiIkIpKSk2Y5KSkhQeHq4yZcrI19dXI0eO1PXr12/noQAAAAAlWqEGi++//15RUVHatGmT4uLidO3aNT388MO6dOmSdczzzz+vb7/9VgsXLtT333+vEydO6PHHH7f2Z2VlKTw8XJmZmdq4caPmzZunuXPnasyYMYVxSAAAAECJ5FSYO1+xYoXN67lz58rX11eJiYlq1aqV0tLSNHv2bH3xxRdq27atJGnOnDmqV6+eNm3apODgYK1atUp79uzR6tWr5efnp8aNG+uNN97QSy+9pNdff12lSpUqjEMDAAAASpQiNcciLS1NkuTj4yNJSkxM1LVr1xQaGmodU7duXVWpUkUJCQmSpISEBDVo0EB+fn7WMWFhYUpPT9fu3btvup+MjAylp6fbLAAAAADyrsgEi+zsbA0bNkz33Xef6tevL0lKTk5WqVKl5O3tbTPWz89PycnJ1jF/DhU3+m/03czEiRPl5eVlXQICAvL5aAAAAICSpcgEi6ioKO3atUvz588v8H2NGjVKaWlp1uXo0aMFvk8AAADgTlaocyxuGDx4sGJjY7V+/XpVrlzZ2u7v76/MzEydP3/e5qxFSkqK/P39rWO2bNlis70bd426MeavXFxc5OLiks9HAQAAAJRchXrGwjAMDR48WF9//bXWrFmj6tWr2/QHBQXJ2dlZ8fHx1rZ9+/YpKSlJISEhkqSQkBDt3LlTqamp1jFxcXHy9PRUYGDg7TkQAAAAoIQr1DMWUVFR+uKLL/TNN9/Iw8PDOifCy8tLpUuXlpeXl/r166fhw4fLx8dHnp6eGjJkiEJCQhQcHCxJevjhhxUYGKiePXsqOjpaycnJGj16tKKiojgrAQAAANwmhRosPvzwQ0nSgw8+aNM+Z84c9e7dW5I0ZcoUOTg4KCIiQhkZGQoLC9PMmTOtYx0dHRUbG6uBAwcqJCREbm5uioyM1Pjx42/XYQAAAAAlXqEGC8Mw/nGMq6urZsyYoRkzZtxyTNWqVbVs2bL8LA0AAACAHYrMXaEAAAAAFF8ECwAAAACmESwAAAAAmEawAAAAAGAawQIAAACAaQQLAAAAAKYRLAAAAACYRrAAAAAAYBrBAgAAAIBpBAsAAAAAphEsAAAAAJhGsAAAAABgGsECAAAAgGkECwAAAACmESwAAAAAmEawAAAAAGAawQIAAACAaQQLAAAAAKYRLAAAAACYRrAAAAAAYBrBAgAAAIBpBAsAAAAAphEsAAAAAJhGsAAAAABgGsECAAAAgGkECwAAAACmESwAAAAAmEawAAAAAGAawQIAAACAaQQLAAAAAKYRLAAAAACYRrAAAAAAYBrBAgAAAIBpBAsAAAAAphVqsFi/fr06deqkSpUqyWKxaMmSJTb9hmFozJgxqlixokqXLq3Q0FAdOHDAZszZs2fVo0cPeXp6ytvbW/369dPFixdv41EAAAAAKNRgcenSJTVq1EgzZsy4aX90dLSmTZumWbNmafPmzXJzc1NYWJiuXr1qHdOjRw/t3r1bcXFxio2N1fr16zVgwIDbdQgAAAAAJDkV5s47dOigDh063LTPMAy9//77Gj16tB599FFJ0qeffio/Pz8tWbJE3bt31969e7VixQpt3bpVzZo1kyRNnz5dHTt21LvvvqtKlSrdtmMBAAAASrIiO8fi8OHDSk5OVmhoqLXNy8tLLVq0UEJCgiQpISFB3t7e1lAhSaGhoXJwcNDmzZtvue2MjAylp6fbLAAAAADyrsgGi+TkZEmSn5+fTbufn5+1Lzk5Wb6+vjb9Tk5O8vHxsY65mYkTJ8rLy8u6BAQE5HP1AAAAQMlSZINFQRo1apTS0tKsy9GjRwu7JAAAAKBYK7LBwt/fX5KUkpJi056SkmLt8/f3V2pqqk3/9evXdfbsWeuYm3FxcZGnp6fNAgAAACDvimywqF69uvz9/RUfH29tS09P1+bNmxUSEiJJCgkJ0fnz55WYmGgds2bNGmVnZ6tFixa3vWYAAACgpCrUu0JdvHhRBw8etL4+fPiwtm/fLh8fH1WpUkXDhg3Tm2++qdq1a6t69ep67bXXVKlSJXXp0kWSVK9ePbVv3179+/fXrFmzdO3aNQ0ePFjdu3fnjlAAAADAbVSoweKnn35SmzZtrK+HDx8uSYqMjNTcuXP14osv6tKlSxowYIDOnz+v+++/XytWrJCrq6t1nZiYGA0ePFjt2rWTg4ODIiIiNG3atNt+LAAAAEBJVqjB4sEHH5RhGLfst1gsGj9+vMaPH3/LMT4+Pvriiy8KojwAAAAAuVRk51gAAAAAKD4IFgAAAABMI1gAAAAAMI1gAQAAAMA0ggUAAAAA0wgWAAAAAEwjWAAAAAAwjWABAAAAwDSCBQAAAADTCBYAAAAATCNYAAAAADCNYAEAAADANIIFAAAAANMIFgAAAABMI1gAAAAAMI1gAQAAAMA0ggUAAAAA0wgWAAAAAEwjWAAAAAAwjWABAAAAwDSCBQAAAADTCBYAAAAATCNYAAAAADCNYAEAAADANIIFAAAAANMIFgAAAABMI1gAAAAAMI1gAQAAAMA0ggUAAAAA0wgWAAAAAEwjWAAAAAAwjWABAAAAwDSCBQAAAADTCBYAAAAATLtjgsWMGTNUrVo1ubq6qkWLFtqyZUthlwQAAACUGHdEsPjqq680fPhwjR07Vtu2bVOjRo0UFham1NTUwi4NAAAAKBHuiGAxefJk9e/fX3369FFgYKBmzZqlMmXK6L///W9hlwYAAACUCMU+WGRmZioxMVGhoaHWNgcHB4WGhiohIaEQKwMAAABKDqfCLsCs06dPKysrS35+fjbtfn5++vXXX2+6TkZGhjIyMqyv09LSJEnp6ekFUmNWxpUC2S5Q1BXUZ+p24bOLkojPLVD8FOTn9sa2DcP4x7HFPljkxcSJEzVu3Lgc7QEBAYVQDXDn8pr+bGGXAMBOfG6B4ud2fG4vXLggLy+vvx1T7INF+fLl5ejoqJSUFJv2lJQU+fv733SdUaNGafjw4dbX2dnZOnv2rMqVKyeLxVKg9eL2Sk9PV0BAgI4ePSpPT8/CLgdALvC5BYofPrd3LsMwdOHCBVWqVOkfxxb7YFGqVCkFBQUpPj5eXbp0kfRHUIiPj9fgwYNvuo6Li4tcXFxs2ry9vQu4UhQmT09P/kcHFDN8boHih8/tnemfzlTcUOyDhSQNHz5ckZGRatasme699169//77unTpkvr06VPYpQEAAAAlwh0RLJ588kmdOnVKY8aMUXJysho3bqwVK1bkmNANAAAAoGDcEcFCkgYPHnzLS59Qcrm4uGjs2LE5Ln0DUHTxuQWKHz63kCSLkZt7RwEAAADA3yj2D8gDAAAAUPgIFgAAAABMI1igWHrwwQc1bNiwAtl27969rbculv64f/OAAQPk4+Mji8Wi7du3F8h+Adxcbj7v1apV0/vvv39b6gHwz/76b+nNFOS/5SgcBAsUSTf7H9L//vc/ubq66r333ivQfU+dOlVz5861vl6xYoXmzp2r2NhYnTx5UvXr1y/Q/QN3kt69e8tischiscjZ2VnVq1fXiy++qKtXr+brfrZu3aoBAwbk6zaBkmjdunXWz+zNljZt2uRqO3/9txQlwx1zVyjc2T755BNFRUVp1qxZ6tOnj7799tt830dWVpYsFkuOh8AcOnRIFStWVMuWLfN9n0BJ0L59e82ZM0fXrl1TYmKiIiMjZbFYNGnSpHzbR4UKFfJtW0BJ1rJlS508eTJH+9KlS/Xss89q0KBBudpObh+ohjsLZyxQ5EVHR2vIkCGaP3++zUMPs7Oz9eKLL8rHx0f+/v56/fXXbdabPHmyGjRoIDc3NwUEBGjQoEG6ePGitX/u3Lny9vbW0qVLFRgYKBcXFyUlJdmcLendu7eGDBmipKQkWSwWVatW7TYcMXBncXFxkb+/vwICAtSlSxeFhoYqLi5OknTmzBk99dRTuuuuu1SmTBk1aNBAX375ZY5tXL9+XYMHD5aXl5fKly+v1157TX++qSGXQgH5o1SpUvL397dZzp07pxEjRuiVV15Rt27dlJWVpX79+ql69eoqXbq06tSpo6lTp9ps569XHly6dEm9evWSu7u7KlasWOBXH6BwECxQpL300kt64403FBsbq8cee8ymb968eXJzc9PmzZsVHR2t8ePHW7+sSJKDg4OmTZum3bt3a968eVqzZo1efPFFm21cvnxZkyZN0ieffKLdu3fL19fXpn/q1KkaP368KleurJMnT2rr1q0Fd7BACbBr1y5t3LhRpUqVkiRdvXpVQUFB+u6777Rr1y4NGDBAPXv21JYtW2zWmzdvnpycnLRlyxZNnTpVkydP1ieffFIYhwCUKOfPn9ejjz6qBx98UG+88YakP/6wV7lyZS1cuFB79uzRmDFj9Morr2jBggW33M7IkSP1/fff65tvvtGqVau0bt06bdu27XYdBm4TLoVCkbV8+XJ98803io+PV9u2bXP0N2zYUGPHjpUk1a5dWx988IHi4+P10EMPSZLNhLBq1arpzTff1LPPPquZM2da269du6aZM2eqUaNGN63By8tLHh4ecnR0lL+/fz4eHVByxMbGyt3dXdevX1dGRoYcHBz0wQcfSJLuuusujRgxwjp2yJAhWrlypRYsWKB7773X2h4QEKApU6bIYrGoTp062rlzp6ZMmaL+/fvf9uMBSors7Gz961//kpOTk2JiYmSxWCRJzs7OGjdunHVc9erVlZCQoAULFuiJJ57IsZ2LFy9q9uzZ+vzzz9WuXTtJf/yxoHLlyrfnQHDbECxQZDVs2FCnT5/W2LFjde+998rd3T1H/59VrFhRqamp1terV6/WxIkT9euvvyo9PV3Xr1/X1atXdfnyZZUpU0bSH6d8/7odAPmrTZs2+vDDD3Xp0iVNmTJFTk5OioiIkPTH3KYJEyZowYIFOn78uDIzM5WRkWH9jN4QHBxs/VIjSSEhIXrvvfeUlZUlR0fH23o8QEnxyiuvKCEhQVu2bJGHh4dN34wZM/Tf//5XSUlJunLlijIzM9W4ceObbufQoUPKzMxUixYtrG0+Pj6qU6dOQZaPQsClUCiy7rrrLq1bt07Hjx9X+/btdeHCBZt+Z2dnm9cWi0XZ2dmSpN9//12PPPKIGjZsqEWLFikxMVEzZsyQJGVmZlrXKV26tM2XFQD5z83NTbVq1VKjRo303//+V5s3b9bs2bMlSe+8846mTp2ql156SWvXrtX27dsVFhZm8zkFcPvNnz9f7777rubPn6/atWvn6BsxYoT69eunVatWafv27erTpw+fWxAsULRVrVpV33//vZKTk28aLm4lMTFR2dnZeu+99xQcHKy7775bJ06cKOBqAfwTBwcHvfLKKxo9erSuXLmiH3/8UY8++qiefvppNWrUSDVq1ND+/ftzrLd582ab15s2bVLt2rU5WwEUgO3bt6tfv356++23FRYWlqP/xx9/VMuWLTVo0CA1adJEtWrV0qFDh265vZo1a8rZ2dnmc3zu3LmbftZRvBEsUOQFBARo3bp1Sk1NVVhYmNLT0/9xnVq1aunatWuaPn26fvvtN3322WeaNWvWbagWwD/p1q2bHB0dNWPGDNWuXVtxcXHauHGj9u7dq2eeeUYpKSk51klKStLw4cO1b98+ffnll5o+fbqee+65QqgeuLOdPn1aXbp00YMPPqinn35aycnJNsupU6dUu3Zt/fTTT1q5cqX279+v11577W9vbuLu7q5+/fpp5MiRWrNmjXbt2qXevXvLwYGvoXca5ligWKhcubLWrVunNm3aKCwsTBkZGX87vlGjRpo8ebImTZqkUaNGqVWrVpo4caJ69ep1myoGcCtOTk4aPHiwoqOj9fPPP+u3335TWFiYypQpowEDBqhLly5KS0uzWadXr166cuWK7r33Xjk6Ouq5557jgXhAAfjuu+905MgRHTlyRBUrVszRX7VqVe3bt08///yznnzySVksFj311FMaNGiQli9ffsvtvvPOO7p48aI6deokDw8PvfDCCzk+5yj+LMafbwQOAAAAAHnAOSgAAAAAphEsAAAAAJhGsAAAAABgGsECAAAAgGkECwAAAACmESwAAAAAmEawAAAAAGAawQIAAACAaQQLAAAAAKYRLAAAeXLq1CkNHDhQVapUkYuLi/z9/RUWFqYff/yxsEsDABQCp8IuAABQPEVERCgzM1Pz5s1TjRo1lJKSovj4eJ05c6awSwMAFALOWAAA7Hb+/Hn98MMPmjRpktq0aaOqVavq3nvv1ahRo9S5c2frmH//+9+qUKGCPD091bZtW/3yyy/WbRw6dEiPPvqo/Pz85O7urubNm2v16tU2+5k5c6Zq164tV1dX+fn5qWvXrta+jIwMDR06VL6+vnJ1ddX999+vrVu3WvvXrVsni8Wi+Ph4NWvWTGXKlFHLli21b9++An53AKBkIlgAAOzm7u4ud3d3LVmyRBkZGTcd061bN6Wmpmr58uVKTExU06ZN1a5dO509e1aSdPHiRXXs2FHx8fH6+eef1b59e3Xq1ElJSUmSpJ9++klDhw7V+PHjtW/fPq1YsUKtWrWybv/FF1/UokWLNG/ePG3btk21atVSWFiYdfs3vPrqq3rvvff0008/ycnJSX379i2gdwUASjaLYRhGYRcBACh+Fi1apP79++vKlStq2rSpWrdure7du6thw4basGGDwsPDlZqaKhcXF+s6tWrV0osvvqgBAwbcdJv169fXs88+q8GDB2vx4sXq06ePjh07Jg8PD5txly5dUtmyZTV37lz961//kiRdu3ZN1apV07BhwzRy5EitW7dObdq00erVq9WuXTtJ0rJlyxQeHq4rV67I1dW1gN4ZACiZOGMBAMiTiIgInThxQkuXLlX79u21bt06NW3aVHPnztUvv/yiixcvqly5ctazG+7u7jp8+LAOHTok6Y8zFiNGjFC9evXk7e0td3d37d2713rG4qGHHlLVqlVVo0YN9ezZUzExMbp8+bKkPy6junbtmu677z5rPc7Ozrr33nu1d+9emzobNmxo/blixYqSpNTU1AJ9bwCgJGLyNgAgz1xdXfXQQw/poYce0muvvaZ///vfGjt2rAYNGqSKFStq3bp1Odbx9vaWJI0YMUJxcXF69913VatWLZUuXVpdu3ZVZmamJMnDw0Pbtm3TunXrtGrVKo0ZM0avv/66zTyK3HB2drb+bLFYJEnZ2dl5O2AAwC1xxgIAkG8CAwN16dIlNW3aVMnJyXJyclKtWrVslvLly0uSfvzxR/Xu3VuPPfaYGjRoIH9/f/3+++8223NyclJoaKiio6O1Y8cO/f7771qzZo1q1qypUqVK2dza9tq1a9q6dasCAwNv5yEDAP4/zlgAAOx25swZdevWTX379lXDhg3l4eGhn376SdHR0Xr00UcVGhqqkJAQdenSRdHR0br77rt14sQJfffdd3rsscfUrFkz1a5dW4sXL1anTp1ksVj02muv2ZxJiI2N1W+//aZWrVqpbNmyWrZsmbKzs1WnTh25ublp4MCBGjlypHx8fFSlShVFR0fr8uXL6tevXyG+MwBQchEsAAB2c3d3V4sWLTRlyhTrfIeAgAD1799fr7zyiiwWi5YtW6ZXX31Vffr00alTp+Tv769WrVrJz89PkjR58mT17dtXLVu2VPny5fXSSy8pPT3dug9vb28tXrxYr7/+uq5evaratWvryy+/1D333CNJevvtt5Wdna2ePXvqwoULatasmVauXKmyZcsWynsCACUdd4UCAAAAYBpzLAAAAACYRrAAAAAAYBrBAgAAAIBpBAsAAAAAphEsAAAAAJhGsAAAAABgGsECAAAAgGkECwAAAACmESwAAAAAmEawAAAAAGAawQIAAACAaQQLAAAAAKb9P59u++gnvo3X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89" y="1064986"/>
            <a:ext cx="5911572" cy="3666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7474" y="1275371"/>
            <a:ext cx="5715592" cy="3325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928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675957" y="1130890"/>
            <a:ext cx="4275138" cy="477520"/>
          </a:xfrm>
        </p:spPr>
        <p:txBody>
          <a:bodyPr/>
          <a:lstStyle/>
          <a:p>
            <a:pPr marL="0" indent="0">
              <a:buNone/>
            </a:pPr>
            <a:r>
              <a:rPr lang="en-US" dirty="0"/>
              <a:t>Seasonal Performance Analysis</a:t>
            </a:r>
            <a:endParaRPr lang="en-I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91" y="1799771"/>
            <a:ext cx="8237938" cy="32321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608410"/>
            <a:ext cx="7011987"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78971" y="4122057"/>
            <a:ext cx="7208973" cy="2308324"/>
          </a:xfrm>
          <a:prstGeom prst="rect">
            <a:avLst/>
          </a:prstGeom>
          <a:noFill/>
        </p:spPr>
        <p:txBody>
          <a:bodyPr wrap="square" rtlCol="0">
            <a:spAutoFit/>
          </a:bodyPr>
          <a:lstStyle/>
          <a:p>
            <a:r>
              <a:rPr lang="en-US" b="1" dirty="0"/>
              <a:t>Key Findings</a:t>
            </a:r>
            <a:endParaRPr lang="en-US" dirty="0"/>
          </a:p>
          <a:p>
            <a:r>
              <a:rPr lang="en-US" b="1" dirty="0" err="1"/>
              <a:t>Kharif</a:t>
            </a:r>
            <a:r>
              <a:rPr lang="en-US" dirty="0"/>
              <a:t> showed the highest overall economic performance. </a:t>
            </a:r>
          </a:p>
          <a:p>
            <a:r>
              <a:rPr lang="en-US" b="1" dirty="0"/>
              <a:t>Rabi</a:t>
            </a:r>
            <a:r>
              <a:rPr lang="en-US" dirty="0"/>
              <a:t> showed moderate performance compared with </a:t>
            </a:r>
            <a:r>
              <a:rPr lang="en-US" dirty="0" err="1"/>
              <a:t>Kharif</a:t>
            </a:r>
            <a:r>
              <a:rPr lang="en-US" dirty="0"/>
              <a:t>. </a:t>
            </a:r>
          </a:p>
          <a:p>
            <a:r>
              <a:rPr lang="en-US" b="1" dirty="0" err="1"/>
              <a:t>Zaid</a:t>
            </a:r>
            <a:r>
              <a:rPr lang="en-US" dirty="0"/>
              <a:t> recorded </a:t>
            </a:r>
            <a:endParaRPr lang="en-US" dirty="0" smtClean="0"/>
          </a:p>
          <a:p>
            <a:r>
              <a:rPr lang="en-US" b="1" dirty="0" smtClean="0"/>
              <a:t>negative average profit</a:t>
            </a:r>
            <a:r>
              <a:rPr lang="en-US" dirty="0" smtClean="0"/>
              <a:t>, indicating weaker economic performance. </a:t>
            </a:r>
          </a:p>
          <a:p>
            <a:r>
              <a:rPr lang="en-US" dirty="0" smtClean="0"/>
              <a:t>Seasonal </a:t>
            </a:r>
            <a:r>
              <a:rPr lang="en-US" dirty="0"/>
              <a:t>performance varies across productivity and economic indicators.</a:t>
            </a:r>
          </a:p>
          <a:p>
            <a:endParaRPr lang="en-US"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320982" y="44437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320982" y="1275371"/>
            <a:ext cx="5049304" cy="369332"/>
          </a:xfrm>
          <a:prstGeom prst="rect">
            <a:avLst/>
          </a:prstGeom>
          <a:noFill/>
        </p:spPr>
        <p:txBody>
          <a:bodyPr wrap="square" rtlCol="0">
            <a:spAutoFit/>
          </a:bodyPr>
          <a:lstStyle/>
          <a:p>
            <a:r>
              <a:rPr lang="en-US" dirty="0"/>
              <a:t>Water Usage / Water Efficiency</a:t>
            </a:r>
          </a:p>
        </p:txBody>
      </p:sp>
      <p:sp>
        <p:nvSpPr>
          <p:cNvPr id="3" name="AutoShape 2" descr="data:image/png;base64,iVBORw0KGgoAAAANSUhEUgAAAxYAAAHqCAYAAACZcdjsAAAAOnRFWHRTb2Z0d2FyZQBNYXRwbG90bGliIHZlcnNpb24zLjEwLjAsIGh0dHBzOi8vbWF0cGxvdGxpYi5vcmcvlHJYcgAAAAlwSFlzAAAPYQAAD2EBqD+naQAAT+dJREFUeJzt3Xd0U/X/x/FXaEsKdEAppYxSVtkbZEspmzJkCsiGL4hsEPSLfpWhgkXZMhwssYLIcKAV2cheoiIIsgQRKLOljLa29/cHh/yIrZCQhDb6fJyTc8jn3tz7viGBvvoZ12QYhiEAAAAAcECWjC4AAAAAgPsjWAAAAABwGMECAAAAgMMIFgAAAAAcRrAAAAAA4DCCBQAAAACHESwAAAAAOIxgAQAAAMBhBAsAAAAADiNYAACcIiEhQf/5z38UHBwsk8mk4cOHS5IuXryoDh06KHfu3DKZTJo+fbo2b94sk8mkzZs323WOcePGyWQyOb/4x8xkMmnw4MEZXQYAOBXBAoDN5syZI5PJpBo1amR0KZlKmTJlVLFixTTtq1evlslkUnh4eJptCxYskMlk0rfffmvzeQ4fPqxx48bp9OnTjpRrl0WLFslkMv3tY9euXZZ9J06cqEWLFum5557TkiVL1L17d0nSiBEjtHbtWo0ZM0ZLlixRs2bNHlv9/3anT59W7969VaxYMXl7eys4OFj16tXT2LFjM7o0AP9AnhldAAD3ER0drcKFC2vPnj06fvy4ihcvntElZQp169bV/PnzFRcXJ39/f0v79u3b5enpqb179yo5OVleXl5W2zw8PFSrVi2bz3P48GGNHz9e9evXV+HChZ15CQ81YcIEFSlSJE37/Z+BjRs3qmbNmml+aN24caOeeuopjRo1ytJWokQJ3b59W1mzZrWrjv/973/673//a2f1/07Hjx/XE088oWzZsqlPnz4qXLiwzp8/rwMHDigqKkrjx4/P6BIB/MMQLADY5NSpU9qxY4dWrVqlZ599VtHR0Y/9t56pqalKSkqSt7f3Yz3vw9StW1fvv/++duzYoebNm1vat2/frqeffloff/yx9u/fr5o1a1q2bdu2TRUqVJCvr29GlGzl5s2bypEjxwP3ad68uapVq/bAfWJjY1WmTJl023PmzGnVliVLlkf6e/T09JSnJ/912WLatGlKSEjQwYMHFRoaarUtNjY2g6oC8E/GUCgANomOjlauXLnUokULdejQQdHR0ZZtycnJCggIUO/evdO8Lj4+Xt7e3la/rU5MTNTYsWNVvHhxmc1mhYSE6IUXXlBiYqLVa++NQ4+OjlbZsmVlNpv1zTffSJLefvtt1a5dW7lz51a2bNlUtWpVrVixIs35b9++raFDhyowMFC+vr5q3bq1zp07J5PJpHHjxlnte+7cOfXp00d58+aV2WxW2bJltWDBgoe+N3Xr1pV0N0jcc+fOHR04cEDt2rVT0aJFrbZdunRJx44ds7zut99+08CBA1WyZElly5ZNuXPnVseOHa2GPC1atEgdO3aUJEVERFiGIt0/RyEmJkZPPvmkcuTIIV9fX7Vo0UI///yzVa29evWSj4+PTpw4ocjISPn6+qpr164PvcYHuTdf4tSpU/rqq68std0bRmUYhmbPnm1pv/81f51jsXv3bkVGRipXrlzKkSOHKlSooBkzZli2/90ci48++khVq1ZVtmzZFBAQoM6dO+vs2bNW+9SvX1/lypXT4cOHFRERoezZs6tAgQKaPHlymuPduXNH48aNU4kSJeTt7a18+fKpXbt2OnHihAzDUOHChfXUU0+l+zp/f389++yzNr130dHRKlmypLy9vVW1alVt3brVsm3Tpk0ymUxavXp1mtd9/PHHMplM2rlz598e+8SJEypYsGCaUCFJQUFBadps+fz8+OOP6tWrl4oWLWoZWtWnTx9duXLFar8bN25o+PDhKly4sMxms4KCgtS4cWMdOHDAar9PP/3U8vcWGBiobt266dy5c1b73PvMnjt3Tm3atJGPj4/y5MmjUaNGKSUl5W+vH8DjR7AAYJPo6Gi1a9dOWbNmVZcuXfTrr79q7969kiQvLy+1bdtWn332mZKSkqxe99lnnykxMVGdO3eWdLfXoXXr1nr77bfVqlUrzZo1S23atNG0adPUqVOnNOfduHGjRowYoU6dOmnGjBmWIUAzZsxQ5cqVNWHCBE2cOFGenp7q2LGjvvrqK6vX9+rVS7NmzVJkZKSioqKULVs2tWjRIs15Ll68qJo1a2r9+vUaPHiwZsyYoeLFi6tv376aPn36A9+bokWLKn/+/Nq2bZulbe/evUpKSlLt2rVVu3Ztq2CxY8cOSf8fSPbu3asdO3aoc+fOmjlzpgYMGKANGzaofv36unXrliSpXr16Gjp0qCTppZde0pIlS7RkyRKVLl1akrRkyRK1aNFCPj4+ioqK0iuvvKLDhw+rbt26aeZk/Pnnn2ratKmCgoL09ttvq3379g+8PkmKi4vT5cuXrR73fpgsXbq0lixZosDAQFWqVMlS2xNPPKElS5ZIkho3bmxp/zvr1q1TvXr1dPjwYQ0bNkxTpkxRRESE1qxZ88Da3njjDfXo0UNhYWGaOnWqhg8frg0bNqhevXq6fv261b7Xrl1Ts2bNVLFiRU2ZMkWlSpXSiy++qJiYGMs+KSkpatmypcaPH6+qVatqypQpGjZsmOLi4nTo0CGZTCZ169ZNMTExunr1qtXxv/zyS8XHx6tbt24PfU+3bNmi4cOHq1u3bpowYYKuXLmiZs2a6dChQ5LuBqGQkBCrEH9PdHS0ihUr9sChdKGhoTp79qw2btz40Fps/fysW7dOJ0+eVO/evTVr1ix17txZy5YtU2RkpAzDsOw3YMAAzZ07V+3bt9ecOXM0atQoZcuWTUeOHLHss2jRIj399NPy8PDQpEmT1K9fP61atUp169ZN8/eWkpKipk2bKnfu3Hr77bcVHh6uKVOm6L333nvotQF4jAwAeIh9+/YZkox169YZhmEYqampRsGCBY1hw4ZZ9lm7dq0hyfjyyy+tXhsZGWkULVrU8nzJkiVGlixZjO+++85qv3nz5hmSjO3bt1vaJBlZsmQxfv755zQ13bp1y+p5UlKSUa5cOaNBgwaWtv379xuSjOHDh1vt26tXL0OSMXbsWEtb3759jXz58hmXL1+22rdz586Gv79/mvP9VceOHY1s2bIZSUlJhmEYxqRJk4wiRYoYhmEYc+bMMYKCgiz7jho1ypBknDt3Lt1rMQzD2LlzpyHJ+PDDDy1tn376qSHJ2LRpk9W+N27cMHLmzGn069fPqv3ChQuGv7+/VXvPnj0NScZ///vfB17PPQsXLjQkpfswm81W+4aGhhotWrRIcwxJxqBBg6zaNm3aZHUtf/75p1GkSBEjNDTUuHbtmtW+qamplj+PHTvWuP+/rtOnTxseHh7GG2+8YfWan376yfD09LRqDw8PT/OeJiYmGsHBwUb79u0tbQsWLDAkGVOnTk1zLfdqOXr0qCHJmDt3rtX21q1bG4ULF7aqOT333sN9+/ZZ2n777TfD29vbaNu2raVtzJgxhtlsNq5fv25pi42NNTw9Pa0+v+k5dOiQkS1bNkOSUalSJWPYsGHGZ599Zty8edNqP3s+P+l9VpcuXWpIMrZu3Wpp8/f3T/N3fr+kpCQjKCjIKFeunHH79m1L+5o1awxJxquvvmppu/eZnTBhgtUxKleubFStWvWB7wGAx4seCwAPFR0drbx58yoiIkLS3SFKnTp10rJlyyxDERo0aKDAwEB98sknltddu3ZN69ats+qJ+PTTT1W6dGmVKlXK6rffDRo0kHR3+Mf9wsPD0x23ny1bNqvzxMXF6cknn7QaanFv2NTAgQOtXjtkyBCr54ZhaOXKlWrVqpUMw7Cqq2nTpoqLi0szhOOv6tatq9u3b2v//v2S7g6Lql27tiSpTp06io2N1a+//mrZVqRIEeXPnz/NtSQnJ+vKlSsqXry4cubM+dDzSnd/i3z9+nV16dLFqnYPDw/VqFEjzXsqSc8999xDj3u/2bNna926dVaP+3/L76jvv/9ep06d0vDhw9PMx3jQ8rKrVq1Samqqnn76aatrDw4OVlhYWJpr9/HxsepNyJo1q6pXr66TJ09a2lauXKnAwMA0n5P7aylRooRq1Khh1Ztw9epVxcTEqGvXrjYtiVurVi1VrVrV8rxQoUJ66qmntHbtWsv3qkePHkpMTLQa5vfJJ5/ozz//fGivSNmyZXXw4EF169ZNp0+f1owZM9SmTRvlzZtX77//vmU/ez4/939W79y5o8uXL1vmDt3/Wc2ZM6d2796tP/74I93a9u3bp9jYWA0cONBqrk2LFi1UqlSpND2P0t1ekPs9+eSTVn9vADIeM+AAPFBKSoqWLVumiIgInTp1ytJeo0YNTZkyRRs2bFCTJk3k6emp9u3b6+OPP1ZiYqLMZrNWrVql5ORkq2Dx66+/6siRI8qTJ0+65/vrpNL0ViKSpDVr1uj111/XwYMHreZm3P8D3W+//aYsWbKkOcZfV7O6dOmSrl+/rvfee+9vh1Y8bLLr/fMsatSooR07duj111+XJJUrV05+fn7avn27QkJCtH//fqv35Pbt25o0aZIWLlyoc+fOWQ0piYuLe+B5JVkCy71w9ld+fn5Wzz09PVWwYMGHHvd+1atXf+jkbUecOHFC0t33yh6//vqrDMNQWFhYutvvX4lLkgoWLJjmh/5cuXLpxx9/tKqlZMmSD50k3qNHDw0ePFi//fabQkND9emnnyo5OdmyzO7DpFdziRIldOvWLV26dEnBwcEqVaqUnnjiCUVHR6tv376S7gb9mjVr2rQqW4kSJbRkyRKlpKTo8OHDWrNmjSZPnqz+/furSJEiatSokV2fn6tXr2r8+PFatmxZmu/E/Z/VyZMnq2fPngoJCVHVqlUVGRmpHj16qGjRopLufjclqWTJkmnOV6pUKathhZLk7e2d5t+MXLly6dq1aw99DwA8PgQLAA+0ceNGnT9/XsuWLdOyZcvSbI+OjlaTJk0kSZ07d9a7776rmJgYtWnTRsuXL1epUqWs7vGQmpqq8uXLa+rUqemeLyQkxOr5/b8hvee7775T69atVa9ePc2ZM0f58uWTl5eXFi5cqI8//tjua0xNTZUkdevWTT179kx3nwoVKjzwGBUrVpSvr6+2bdumyMhIXb161dJjkSVLFtWoUUPbtm1TsWLFlJSUZAki0t0elIULF2r48OGqVauW/P39ZTKZ1LlzZ0ttttS/ZMkSBQcHp9n+1x+QzWazsmT5Z3RYp6amymQyKSYmRh4eHmm2+/j4WD1Pbx9JVmHOVp07d9aIESMUHR2tl156SR999JGqVauW7g/LjujRo4eGDRum33//XYmJidq1a5feeecdu47h4eGh8uXLq3z58qpVq5YiIiIUHR2tRo0a2fX5efrpp7Vjxw6NHj1alSpVko+Pj1JTU9WsWTOrz+rTTz+tJ598UqtXr9a3336rt956S1FRUVq1apXVymn21A8g8yNYAHig6OhoBQUFafbs2Wm2rVq1SqtXr9a8efOULVs21atXT/ny5dMnn3yiunXrauPGjXr55ZetXlOsWDH98MMPatiw4SPfQXnlypXy9vbW2rVrZTabLe0LFy602i80NFSpqak6deqU1W+Hjx8/brVfnjx55Ovrq5SUFDVq1OiRavLw8FDNmjW1fft2bdu2TX5+fipfvrxle+3atfXJJ59Yfst8f7BYsWKFevbsqSlTplja7ty5k2YC69+9X8WKFZN0d6WfR60/o927hkOHDtl1DcWKFZNhGCpSpIhKlCjhtFp2796d5t4jfxUQEKAWLVooOjpaXbt21fbt2x860f9+93oK7nfs2DFlz57d6rfznTt31siRI7V06VLdvn1bXl5e6S50YKt7PU/nz5+XZPvn59q1a9qwYYPGjx+vV1999YHXIUn58uXTwIEDNXDgQMXGxqpKlSp644031Lx5c8tKVUePHk3TU3L06NF0V7ICkPn9M35lBcAlbt++rVWrVqlly5bq0KFDmsfgwYN148YNffHFF5Lu/ma+Q4cO+vLLL7VkyRL9+eefaX4Aevrpp3Xu3DmrMd73n+/mzZsPrcvDw0Mmk8lqqcnTp0/rs88+s9qvadOmku7eMfx+s2bNSnO89u3ba+XKlZYVee536dKlh9Yk3Q0Lly5d0sKFC1WjRg2rXoHatWvr6NGj+vzzz5U7d27Lak73zv/X35jPmjUrzVKa9+418dfA0bRpU/n5+WnixIlKTk5+5PozUpUqVVSkSBFNnz49zfU9qDehXbt28vDw0Pjx49PsZxhGmmVQbdG+fXtdvnw53V6Bv56je/fuOnz4sEaPHi0PDw/L6me22Llzp9W8hLNnz+rzzz9XkyZNrH5DHxgYqObNm+ujjz5SdHS0mjVrpsDAwIce/7vvvkv38/D1119L+v9hSLZ+fu7V9Nf34K9hKiUlJc0QvqCgIOXPn98ybLFatWoKCgrSvHnzrIYyxsTE6MiRI+mu3AYg86PHAsDf+uKLL3Tjxg21bt063e01a9ZUnjx5FB0dbQkQnTp10qxZszR27FiVL1/e6gdo6e4PYsuXL9eAAQO0adMm1alTRykpKfrll1+0fPlyrV279qFj+Vu0aKGpU6eqWbNmeuaZZxQbG6vZs2erePHiVmPlq1atqvbt22v69Om6cuWKatasqS1btujYsWOSrHsA3nzzTW3atEk1atRQv379VKZMGV29elUHDhzQ+vXr0ywrmp57vRA7d+5Mc4+MmjVrymQyadeuXWrVqpXVuVu2bKklS5bI399fZcqU0c6dO7V+/Xrlzp3b6hiVKlWSh4eHoqKiFBcXJ7PZrAYNGigoKEhz585V9+7dVaVKFXXu3Fl58uTRmTNn9NVXX6lOnTp2D535q5iYGP3yyy9p2mvXrm0ZN++ILFmyaO7cuWrVqpUqVaqk3r17K1++fPrll1/0888/a+3atem+rlixYnr99dc1ZswYnT59Wm3atJGvr69OnTql1atXq3///lb3ULFFjx499OGHH2rkyJHas2ePnnzySd28eVPr16/XwIEDre5f0aJFC+XOnVuffvqpmjdvnu79If5OuXLl1LRpUw0dOlRms9kSgNO7I3aPHj3UoUMHSdJrr71m0/GjoqK0f/9+tWvXzjKU78CBA/rwww8VEBCg4cOHS7o7h8KWz4+fn5/q1aunyZMnKzk5WQUKFNC3335rNfdKunsPi4IFC6pDhw6qWLGifHx8tH79eu3du9fSK+fl5aWoqCj17t1b4eHh6tKliy5evGhZUnrEiBE2v48AMpGMWYwKgDto1aqV4e3tnWZ5yvv16tXL8PLysizTmpqaaoSEhBiSjNdffz3d1yQlJRlRUVFG2bJlDbPZbOTKlcuoWrWqMX78eCMuLs6yn9JZpvSe+fPnG2FhYYbZbDZKlSplLFy4MM1SpIZhGDdv3jQGDRpkBAQEGD4+PkabNm0sS4W++eabVvtevHjRGDRokBESEmJ4eXkZwcHBRsOGDY333nvPpvfr5s2bhqenpyHJ+Pbbb9Nsr1ChgiHJiIqKsmq/du2a0bt3byMwMNDw8fExmjZtavzyyy9GaGio0bNnT6t933//faNo0aKGh4dHmqVnN23aZDRt2tTw9/c3vL29jWLFihm9evWyWtK0Z8+eRo4cOWy6HsN48HKzkoyFCxda9nVkudl7tm3bZjRu3Njw9fU1cuTIYVSoUMGYNWuWZXt6f8eGYRgrV6406tata+TIkcPIkSOHUapUKWPQoEHG0aNHLfuEh4cbZcuWTfPanj17GqGhoVZtt27dMl5++WWjSJEils9Chw4djBMnTqR5/cCBAw1Jxscff5xm29+595589NFHls9x5cqV07wf9yQmJhq5cuUy/P39rZZnfZDt27cbgwYNMsqVK2f4+/sbXl5eRqFChYxevXqlex22fH5+//13o23btkbOnDkNf39/o2PHjsYff/xhtXxzYmKiMXr0aKNixYqWv8eKFSsac+bMSXPOTz75xKhcubJhNpuNgIAAo2vXrsbvv/9utc/ffWb/7rMAIOOYDOMRZqwBgBs7ePCgKleurI8++sjhu04DI0aM0Pz583XhwgVlz57dJef4888/lT9/frVq1Urz5893yTkAwFHMsQDwj3b79u00bdOnT1eWLFlUr169DKgI/yR37tzRRx99pPbt27ssVEh372B/6dIl9ejRw2XnAABHMccCwD/a5MmTtX//fkVERMjT01MxMTGKiYlR//790yxtC9gqNjZW69ev14oVK3TlyhUNGzbMJefZvXu3fvzxR7322muqXLmywsPDXXIeAHAGggWAf7TatWtr3bp1eu2115SQkKBChQpp3LhxaZbBBexx+PBhde3aVUFBQZo5c6YqVarkkvPMnTtXH330kSpVqqRFixa55BwA4CzMsQAAAADgMOZYAAAAAHAYwQIAAACAw9x6jkVqaqr++OMP+fr6Wt1sCgAAAIDjDMPQjRs3lD9/fmXJ8uA+CbcOFn/88QerugAAAAAudvbsWRUsWPCB+7h1sPD19ZV090L9/PwyuBoAAADgnyU+Pl4hISGWn7sfxK2Dxb3hT35+fgQLAAAAwEVsmXbA5G0AAAAADiNYAAAAAHAYwQIAAACAwwgWAAAAABxGsAAAAADgsAwPFufOnVO3bt2UO3duZcuWTeXLl9e+ffsyuiwAAAAAdsjQ5WavXbumOnXqKCIiQjExMcqTJ49+/fVX5cqVKyPLAgAAAGCnDA0WUVFRCgkJ0cKFCy1tRYoUycCKAAAAADyKDB0K9cUXX6hatWrq2LGjgoKCVLlyZb3//vsZWRIAAACAR5ChweLkyZOaO3euwsLCtHbtWj333HMaOnSoFi9enO7+iYmJio+Pt3oAAAAAyHgmwzCMjDp51qxZVa1aNe3YscPSNnToUO3du1c7d+5Ms/+4ceM0fvz4NO1xcXHy8/Nzaa0AAADAv018fLz8/f1t+nk7Q3ss8uXLpzJlyli1lS5dWmfOnEl3/zFjxiguLs7yOHv27OMoEwAAAMBDZOjk7Tp16ujo0aNWbceOHVNoaGi6+5vNZpnN5sdRGgAAAAA7ZGiPxYgRI7Rr1y5NnDhRx48f18cff6z33ntPgwYNysiyAAAAANgpQ4PFE088odWrV2vp0qUqV66cXnvtNU2fPl1du3bNyLIAAAAA2ClDJ287yp7JJAAAAADs4zaTtwEAAAD8M2To5G13UXX0hxldApAp7H+rR0aXAAAAMil6LAAAAAA4jGABAAAAwGEECwAAAAAOI1gAAAAAcBjBAgAAAIDDCBYAAAAAHEawAAAAAOAwggUAAAAAhxEsAAAAADiMYAEAAADAYQQLAAAAAA4jWAAAAABwGMECAAAAgMMIFgAAAAAcRrAAAAAA4DCCBQAAAACHESwAAAAAOIxgAQAAAMBhBAsAAAAADiNYAAAAAHAYwQIAAACAwwgWAAAAABxGsAAAAADgMIIFAAAAAIcRLAAAAAA4jGABAAAAwGEECwAAAAAOI1gAAAAAcBjBAgAAAIDDCBYAAAAAHEawAAAAAOAwggUAAAAAhxEsAAAAADiMYAEAAADAYQQLAAAAAA4jWAAAAABwGMECAAAAgMMIFgAAAAAcRrAAAAAA4DCCBQAAAACHESwAAAAAOIxgAQAAAMBhBAsAAAAADiNYAAAAAHAYwQIAAACAwzwzugAAeFyqjv4wo0sAMo39b/XI6BIA/MPQYwEAAADAYQQLAAAAAA4jWAAAAABwGMECAAAAgMMeafJ2cnKyLly4oFu3bilPnjwKCAhwdl0AAAAA3IjNPRY3btzQ3LlzFR4eLj8/PxUuXFilS5dWnjx5FBoaqn79+mnv3r2urBUAAABAJmVTsJg6daoKFy6shQsXqlGjRvrss8908OBBHTt2TDt37tTYsWP1559/qkmTJmrWrJl+/fVXm04+btw4mUwmq0epUqUcuiAAAAAAj59NQ6H27t2rrVu3qmzZsulur169uvr06aN58+Zp4cKF+u677xQWFmZTAWXLltX69ev/vyBPbq0BAAAAuBubfopfunSpTQczm80aMGCAfQV4eio4ONiu1wAAAADIXOxaFSohIUGS9OOPPyo1NdUpBfz666/Knz+/ihYtqq5du+rMmTNOOS4AAACAx8fmYNG/f3/lz59f48aNU5s2bTRo0CCHT16jRg0tWrRI33zzjebOnatTp07pySef1I0bN9LdPzExUfHx8VYPAAAAABnP5mBx5swZFShQQM8//7yOHDmi7du3O3zy5s2bq2PHjqpQoYKaNm2qr7/+WtevX9fy5cvT3X/SpEny9/e3PEJCQhyuAQAAAIDjbA4WWbNmVZMmTeTr6yuz2eySe1fkzJlTJUqU0PHjx9PdPmbMGMXFxVkeZ8+edXoNAAAAAOxnc7Bo0qSJZsyYIUm6c+eOfH19nV5MQkKCTpw4oXz58qW73Ww2y8/Pz+oBAAAAIOPZHCwGDx5s+bO3t7e+/PJLh08+atQobdmyRadPn9aOHTvUtm1beXh4qEuXLg4fGwAAAMDj88g3jYiNjVVsbGya1aEqVKhg8zF+//13denSRVeuXFGePHlUt25d7dq1S3ny5HnUsgAAAABkALuDxf79+9WzZ08dOXJEhmFIkkwmkwzDkMlkUkpKis3HWrZsmb2nBwAAAJAJ2R0s+vTpoxIlSmj+/PnKmzevTCaTK+oCAAAA4EbsDhYnT57UypUrVbx4cVfUAwAAAMAN2XXnbUlq2LChfvjhB1fUAgAAAMBN2d1j8cEHH6hnz546dOiQypUrJy8vL6vtrVu3dlpxAAAAANyD3cFi586d2r59u2JiYtJss3fyNgAAAIB/BruHQg0ZMkTdunXT+fPnlZqaavUgVAAAAAD/TnYHiytXrmjEiBHKmzevK+oBAAAA4IbsDhbt2rXTpk2bXFELAAAAADdl9xyLEiVKaMyYMdq2bZvKly+fZvL20KFDnVYcAAAAAPfwSKtC+fj4aMuWLdqyZYvVNpPJRLAAAAAA/oXsDhanTp1yRR0AAAAA3JjdcywAAAAA4K8IFgAAAAAcRrAAAAAA4DCCBQAAAACHESwAAAAAOMzuVaH27NmjnTt36sKFC5Kk4OBg1apVS9WrV3d6cQAAAADcg83BIjY2Vu3bt9f27dtVqFAh5c2bV5J08eJFjRgxQnXq1NHKlSsVFBTksmIBAAAAZE42D4UaOHCgUlJSdOTIEZ0+fVq7d+/W7t27dfr0aR05ckSpqakaNGiQK2sFAAAAkEnZ3GOxdu1abd26VSVLlkyzrWTJkpo5c6bq16/vzNoAAAAAuAmbeyzMZrPi4+P/dvuNGzdkNpudUhQAAAAA92JzsOjUqZN69uyp1atXWwWM+Ph4rV69Wr1791aXLl1cUiQAAACAzM3moVBTp05VamqqOnfurD///FNZs2aVJCUlJcnT01N9+/bV22+/7bJCAQAAAGReNgcLs9msuXPnKioqSvv27dPFixcl3V1utmrVqvLz83NZkQAAAAAyN7vvY+Hn56cGDRq4ohYAAAAAbsquYHH58mUtWLAgzQ3yateurV69eilPnjwuKRIAAABA5mbz5O29e/eqRIkSmjlzpvz9/VWvXj3Vq1dP/v7+mjlzpkqVKqV9+/a5slYAAAAAmZTNPRZDhgxRx44dNW/ePJlMJqtthmFowIABGjJkiHbu3On0IgEAAABkbjYHix9++EGLFi1KEyokyWQyacSIEapcubJTiwMAAADgHmweChUcHKw9e/b87fY9e/Yob968TikKAAAAgHuxucdi1KhR6t+/v/bv36+GDRtaQsTFixe1YcMGvf/++9zHAgAAAPiXsjlYDBo0SIGBgZo2bZrmzJmjlJQUSZKHh4eqVq2qRYsW6emnn3ZZoQAAAAAyL7uWm+3UqZM6deqk5ORkXb58WZIUGBgoLy8vlxQHAACQnqqjP8zoEoBMY/9bPTK6BEmPcIM8SfLy8lJAQIDlzwAAAAD+3WyevC1J69atU2RkpHLlyqXs2bMre/bsypUrlyIjI7V+/XpX1QgAAAAgk7M5WCxevFiRkZHy9/fXtGnTtGbNGq1Zs0bTpk1Tzpw5FRkZqSVLlriyVgAAAACZlM1Dod544w1Nnz5dgwYNSrOtV69eqlu3riZMmKDu3bs7tUAAAAAAmZ/NPRZnzpxRo0aN/nZ7w4YN9fvvvzulKAAAAADuxeZgUbZsWc2fP/9vty9YsEBlypRxSlEAAAAA3IvNQ6GmTJmili1b6ptvvlGjRo3S3CDv5MmT+uqrr1xWKAAAAIDMy+ZgUb9+fR06dEhz587Vrl27dOHCBUlScHCwmjdvrgEDBqhw4cKuqhMAAABAJmbXfSwKFy6sqKgoV9UCAAAAwE3ZdR8LAAAAAEiP04LFDz/8IA8PD2cdDgAAAIAbcWqPhWEYzjwcAAAAADdh8xyLdu3aPXB7XFycTCaTwwUBAAAAcD82B4svv/xSjRs3tiwz+1cpKSlOKwoAAACAe7E5WJQuXVrt27dX3759091+8OBBrVmzxmmFAQAAAHAfNs+xqFq1qg4cOPC3281mswoVKuSUogAAAAC4F5t7LObNm/fA4U6lS5fWqVOnnFIUAAAAAPdic7Awm82urAMAAACAG+MGeQAAAAAcRrAAAAAA4DCCBQAAAACHESwAAAAAOMyuYJGcnCxPT08dOnTI6YW8+eabMplMGj58uNOPDQAAAMC17AoWXl5eKlSokNPvsr137169++67qlChglOPCwAAAODxsHso1Msvv6yXXnpJV69edUoBCQkJ6tq1q95//33lypXLKccEAAAA8HjZfB+Le9555x0dP35c+fPnV2hoqHLkyGG1/UF3507PoEGD1KJFCzVq1Eivv/76A/dNTExUYmKi5Xl8fLxd5wIAAADgGnYHizZt2jjt5MuWLdOBAwe0d+9em/afNGmSxo8f77TzAwAAAHAOu4PF2LFjnXLis2fPatiwYVq3bp28vb1tes2YMWM0cuRIy/P4+HiFhIQ4pR4AAAAAj87uYCFJ169f14oVK3TixAmNHj1aAQEBOnDggPLmzasCBQrYdIz9+/crNjZWVapUsbSlpKRo69ateuedd5SYmCgPDw+r15jNZpnN5kcpGQAAAIAL2R0sfvzxRzVq1Ej+/v46ffq0+vXrp4CAAK1atUpnzpzRhx9+aNNxGjZsqJ9++smqrXfv3ipVqpRefPHFNKECAAAAQOZld7AYOXKkevXqpcmTJ8vX19fSHhkZqWeeecbm4/j6+qpcuXJWbTly5FDu3LnTtAMAAADI3Oxebnbv3r169tln07QXKFBAFy5ccEpRAAAAANyL3T0WZrM53WVejx07pjx58jhUzObNmx16PQAAAICMYXePRevWrTVhwgQlJydLkkwmk86cOaMXX3xR7du3d3qBAAAAADI/u4PFlClTlJCQoKCgIN2+fVvh4eEqXry4fH199cYbb7iiRgAAAACZnN1Dofz9/bVu3Tpt27ZNP/74oxISElSlShU1atTIFfUBAAAAcAOPdB8LSapbt67q1q3rzFoAAAAAuCm7h0JJ0oYNG9SyZUsVK1ZMxYoVU8uWLbV+/Xpn1wYAAADATdgdLObMmaNmzZrJ19dXw4YN07Bhw+Tn56fIyEjNnj3bFTUCAAAAyOTsHgo1ceJETZs2TYMHD7a0DR06VHXq1NHEiRM1aNAgpxYIAAAAIPOzu8fi+vXratasWZr2Jk2aKC4uzilFAQAAAHAvj3Qfi9WrV6dp//zzz9WyZUunFAUAAADAvdg9FKpMmTJ64403tHnzZtWqVUuStGvXLm3fvl3PP/+8Zs6cadl36NChzqsUAAAAQKZld7CYP3++cuXKpcOHD+vw4cOW9pw5c2r+/PmW5yaTiWABAAAA/EvYHSxOnTrlijoAAAAAuLFHuo8FAAAAANyPYAEAAADAYQQLAAAAAA4jWAAAAABwGMECAAAAgMPsDhbffPONtm3bZnk+e/ZsVapUSc8884yuXbvm1OIAAAAAuAe7g8Xo0aMVHx8vSfrpp5/0/PPPKzIyUqdOndLIkSOdXiAAAACAzO+R7mNRpkwZSdLKlSvVsmVLTZw4UQcOHFBkZKTTCwQAAACQ+dndY5E1a1bdunVLkrR+/Xo1adJEkhQQEGDpyQAAAADw72J3j0XdunU1cuRI1alTR3v27NEnn3wiSTp27JgKFizo9AIBAAAAZH5291i888478vT01IoVKzR37lwVKFBAkhQTE6NmzZo5vUAAAAAAmZ/dPRaFChXSmjVr0rRPmzbNKQUBAAAAcD+PdB+LEydO6H//+5+6dOmi2NhYSXd7LH7++WenFgcAAADAPdgdLLZs2aLy5ctr9+7dWrVqlRISEiRJP/zwg8aOHev0AgEAAABkfnYHi//+9796/fXXtW7dOmXNmtXS3qBBA+3atcupxQEAAABwD3YHi59++klt27ZN0x4UFKTLly87pSgAAAAA7sXuYJEzZ06dP38+Tfv3339vWSEKAAAAwL+L3cGic+fOevHFF3XhwgWZTCalpqZq+/btGjVqlHr06OGKGgEAAABkcnYHi4kTJ6pUqVIKCQlRQkKCypQpo3r16ql27dr63//+54oaAQAAAGRydt/HImvWrHr//ff1yiuv6NChQ0pISFDlypUVFhbmivoAAAAAuAG7g8U9hQoVUqFChZxZCwAAAAA3ZXewSElJ0aJFi7RhwwbFxsYqNTXVavvGjRudVhwAAAAA92B3sBg2bJgWLVqkFi1aqFy5cjKZTK6oCwAAAIAbsTtYLFu2TMuXL1dkZKQr6gEAAADghuxeFSpr1qwqXry4K2oBAAAA4KbsDhbPP/+8ZsyYIcMwXFEPAAAAADdk91Cobdu2adOmTYqJiVHZsmXl5eVltX3VqlVOKw4AAACAe7A7WOTMmVNt27Z1RS0AAAAA3JTdwWLhwoWuqAMAAACAG7N7jgUAAAAA/JXdweLixYvq3r278ufPL09PT3l4eFg9AAAAAPz72D0UqlevXjpz5oxeeeUV5cuXjxvkAQAAAHi0VaG+++47VapUyQXlAAAAAHBHdg+FCgkJ4R4WAAAAAKzYHSymT5+u//73vzp9+rQLygEAAADgjuweCtWpUyfdunVLxYoVU/bs2dPcIO/q1atOKw4AAACAe7A7WEyfPt0FZQAAAABwZ3YHi549e7qiDgAAAABuzO5gIUkpKSn67LPPdOTIEUlS2bJl1bp1a+5jAQAAAPxL2R0sjh8/rsjISJ07d04lS5aUJE2aNEkhISH66quvVKxYMacXCQAAACBzs3tVqKFDh6pYsWI6e/asDhw4oAMHDujMmTMqUqSIhg4d6ooaAQAAAGRydvdYbNmyRbt27VJAQIClLXfu3HrzzTdVp04dpxYHAAAAwD3Y3WNhNpt148aNNO0JCQnKmjWrXceaO3euKlSoID8/P/n5+alWrVqKiYmxtyQAAAAAGczmYLF161YlJyerZcuW6t+/v3bv3i3DMGQYhnbt2qUBAwaodevWdp28YMGCevPNN7V//37t27dPDRo00FNPPaWff/7Z7gsBAAAAkHFsDhYRERG6du2aZs6cqWLFiqlWrVry9vaWt7e36tSpo+LFi2vGjBl2nbxVq1aKjIxUWFiYSpQooTfeeEM+Pj7atWuX3RcCAAAAIOPYPMfCMAxJUs6cOfX555/r119/1S+//CJJKl26tIoXL+5QISkpKfr000918+ZN1apVy6FjAQAAAHi87Jq8bTKZLH8OCwtTWFiYwwX89NNPqlWrlu7cuSMfHx+tXr1aZcqUSXffxMREJSYmWp7Hx8c7fH4AAAAAjrMrWPTq1Utms/mB+6xatcquAkqWLKmDBw8qLi5OK1asUM+ePbVly5Z0w8WkSZM0fvx4u44PAAAAwPXsCha+vr7Kli2bUwvImjWrZRhV1apVtXfvXs2YMUPvvvtumn3HjBmjkSNHWp7Hx8crJCTEqfUAAAAAsJ9dwWLmzJkKCgpyVS2SpNTUVKvhTvczm80P7TEBAAAA8PjZHCzun1/hLGPGjFHz5s1VqFAh3bhxQx9//LE2b96stWvXOv1cAAAAAFzH7lWhnCk2NlY9evTQ+fPn5e/vrwoVKmjt2rVq3Lix088FAAAAwHVsDhabNm1SQECAU08+f/58px4PAAAAQMaw6QZ5y5YtU3h4uDw9H55Dzp49q+3btztcGAAAAAD3YVOwmDt3rkqXLq3JkyfryJEjabbHxcXp66+/1jPPPKMqVaroypUrTi8UAAAAQOZl01CoLVu26IsvvtCsWbM0ZswY5ciRQ3nz5pW3t7euXbumCxcuKDAwUL169dKhQ4eUN29eV9cNAAAAIBOxeY5F69at1bp1a12+fFnbtm3Tb7/9ptu3byswMFCVK1dW5cqVlSWLTR0gAAAAAP5h7LqPhSQFBgaqTZs2LigFAAAAgLuiiwEAAACAwwgWAAAAABxGsAAAAADgMIIFAAAAAIfZHSw2bdrkijoAAAAAuDG7g0WzZs1UrFgxvf766zp79qwragIAAADgZuwOFufOndPgwYO1YsUKFS1aVE2bNtXy5cuVlJTkivoAAAAAuAG7g0VgYKBGjBihgwcPavfu3SpRooQGDhyo/Pnza+jQofrhhx9cUScAAACATMyhydtVqlTRmDFjNHjwYCUkJGjBggWqWrWqnnzySf3888/OqhEAAABAJvdIwSI5OVkrVqxQZGSkQkNDtXbtWr3zzju6ePGijh8/rtDQUHXs2NHZtQIAAADIpDztfcGQIUO0dOlSGYah7t27a/LkySpXrpxle44cOfT2228rf/78Ti0UAAAAQOZld7A4fPiwZs2apXbt2slsNqe7T2BgIMvSAgAAAP8idgeLDRs2PPygnp4KDw9/pIIAAAAAuB+751hMmjRJCxYsSNO+YMECRUVFOaUoAAAAAO7F7mDx7rvvqlSpUmnay5Ytq3nz5jmlKAAAAADuxe5gceHCBeXLly9Ne548eXT+/HmnFAUAAADAvdgdLEJCQrR9+/Y07du3b2clKAAAAOBfyu7J2/369dPw4cOVnJysBg0aSLo7ofuFF17Q888/7/QCAQAAAGR+dgeL0aNH68qVKxo4cKCSkpIkSd7e3nrxxRc1ZswYpxcIAAAAIPOzO1iYTCZFRUXplVde0ZEjR5QtWzaFhYX97T0tAAAAAPzz2R0s7vHx8dETTzzhzFoAAAAAuCm7g8XNmzf15ptvasOGDYqNjVVqaqrV9pMnTzqtOAAAAADuwe5g8Z///EdbtmxR9+7dlS9fPplMJlfUBQAAAMCN2B0sYmJi9NVXX6lOnTquqAcAAACAG7L7Pha5cuVSQECAK2oBAAAA4KbsDhavvfaaXn31Vd26dcsV9QAAAABwQ3YPhZoyZYpOnDihvHnzqnDhwvLy8rLafuDAAacVBwAAAMA92B0s2rRp44IyAAAAALgzu4PF2LFjXVEHAAAAADdm9xwLSbp+/bo++OADjRkzRlevXpV0dwjUuXPnnFocAAAAAPdgd4/Fjz/+qEaNGsnf31+nT59Wv379FBAQoFWrVunMmTP68MMPXVEnAAAAgEzM7h6LkSNHqlevXvr111/l7e1taY+MjNTWrVudWhwAAAAA92B3sNi7d6+effbZNO0FChTQhQsXnFIUAAAAAPdid7Awm82Kj49P037s2DHlyZPHKUUBAAAAcC92B4vWrVtrwoQJSk5OliSZTCadOXNGL774otq3b+/0AgEAAABkfnYHiylTpighIUFBQUG6ffu2wsPDVbx4cfn6+uqNN95wRY0AAAAAMjm7V4Xy9/fXunXrtG3bNv34449KSEhQlSpV1KhRI1fUBwAAAMAN2B0s7qlbt67q1q3rzFoAAAAAuCmbgsXMmTPVv39/eXt7a+bMmQ/cd+jQoU4pDAAAAID7sClYTJs2TV27dpW3t7emTZv2t/uZTCaCBQAAAPAvZFOwOHXqVLp/BgAAAADpEVaFAgAAAIC/sjtYtG/fXlFRUWnaJ0+erI4dOzqlKAAAAADuxe5gsXXrVkVGRqZpb968ubZu3eqUogAAAAC4F7uDRUJCgrJmzZqm3cvLS/Hx8U4pCgAAAIB7sTtYlC9fXp988kma9mXLlqlMmTJOKQoAAACAe7H7BnmvvPKK2rVrpxMnTqhBgwaSpA0bNmjp0qX69NNPnV4gAAAAgMzP7mDRqlUrffbZZ5o4caJWrFihbNmyqUKFClq/fr3Cw8NdUSMAAACATM7uYCFJLVq0UIsWLZxdCwAAAAA3laH3sZg0aZKeeOIJ+fr6KigoSG3atNHRo0czsiQAAAAAj8CmYBEQEKDLly9LknLlyqWAgIC/fdhjy5YtGjRokHbt2qV169YpOTlZTZo00c2bN+2/EgAAAAAZxqahUNOmTZOvr68kafr06U47+TfffGP1fNGiRQoKCtL+/ftVr149p50HAAAAgGvZFCx++OEHdejQQWazWUWKFFHt2rXl6flI0zMeKC4uTpLs7vkAAAAAkLFsGgo1a9YsJSQkSJIiIiJ09epVpxeSmpqq4cOHq06dOipXrly6+yQmJio+Pt7qAQAAACDj2dTtULhwYc2cOVNNmjSRYRjauXOncuXKle6+jzqEadCgQTp06JC2bdv2t/tMmjRJ48ePf6TjAwAAAHAdm4LFW2+9pQEDBmjSpEkymUxq27ZtuvuZTCalpKTYXcTgwYO1Zs0abd26VQULFvzb/caMGaORI0dansfHxyskJMTu8wEAAABwLpuCRZs2bdSmTRslJCTIz89PR48eVVBQkMMnNwxDQ4YM0erVq7V582YVKVLkgfubzWaZzWaHzwsAAADAuWyaYzFy5EjdvHlTPj4+2rRpk4oUKSJ/f/90H/YYNGiQPvroI3388cfy9fXVhQsXdOHCBd2+ffuRLgYAAABAxrB78naDBg2cNnl77ty5iouLU/369ZUvXz7L45NPPnHK8QEAAAA8Hhk6edswDJv3BQAAAJB5ZYrJ2wAAAADcW4ZO3gYAAADwz2DX7bPvn7ztijtvAwAAAHBPNk3elqTly5crKSlJ4eHh8vT01O+//67U1FTL9lu3bmny5MkuKRIAAABA5mZzsOjSpYuuX79ueV6mTBmdPn3a8vzGjRsaM2aMM2sDAAAA4CZsDhZ/XcGJFZ0AAAAA3GNzsAAAAACAv0OwAAAAAOAwu5Z2Wrt2rfz9/SVJqamp2rBhgw4dOiRJVvMvAAAAAPy72BUsevbsafX82WeftXpuMpkcrwgAAACA27E5WNy/tCwAAAAA3I85FgAAAAAcRrAAAAAA4DCCBQAAAACHESwAAAAAOMyuYJGSkqKtW7eytCwAAAAAK3YFCw8PDzVp0kTXrl1zVT0AAAAA3JDdQ6HKlSunkydPuqIWAAAAAG7K7mDx+uuva9SoUVqzZo3Onz+v+Ph4qwcAAACAfx+77rwtSZGRkZKk1q1bW91p2zAMmUwmpaSkOK86AAAAAG7B7mCxadMmV9QBAAAAwI3ZHSzCw8NdUQcAAAAAN/ZI97H47rvv1K1bN9WuXVvnzp2TJC1ZskTbtm1zanEAAAAA3IPdwWLlypVq2rSpsmXLpgMHDigxMVGSFBcXp4kTJzq9QAAAAACZ3yOtCjVv3jy9//778vLysrTXqVNHBw4ccGpxAAAAANyD3cHi6NGjqlevXpp2f39/7sgNAAAA/EvZHSyCg4N1/PjxNO3btm1T0aJFnVIUAAAAAPdid7Do16+fhg0bpt27d8tkMumPP/5QdHS0Ro0apeeee84VNQIAAADI5Oxebva///2vUlNT1bBhQ926dUv16tWT2WzWqFGjNGTIEFfUCAAAACCTsztYmEwmvfzyyxo9erSOHz+uhIQElSlTRj4+Pq6oDwAAAIAbsHsoVJ8+fXTjxg1lzZpVZcqUUfXq1eXj46ObN2+qT58+rqgRAAAAQCZnd7BYvHixbt++nab99u3b+vDDD51SFAAAAAD3YvNQqPj4eBmGIcMwdOPGDXl7e1u2paSk6Ouvv1ZQUJBLigQAAACQudkcLHLmzCmTySSTyaQSJUqk2W4ymTR+/HinFgcAAADAPdgcLDZt2iTDMNSgQQOtXLlSAQEBlm1Zs2ZVaGio8ufP75IiAQAAAGRuNgeL8PBwSdKpU6cUEhKiLFnsnp4BAAAA4B/K7uVmQ0NDJUm3bt3SmTNnlJSUZLW9QoUKzqkMAAAAgNuwO1hcunRJvXv3VkxMTLrbU1JSHC4KAAAAgHuxezzT8OHDdf36de3evVvZsmXTN998o8WLFyssLExffPGFK2oEAAAAkMnZ3WOxceNGff7556pWrZqyZMmi0NBQNW7cWH5+fpo0aZJatGjhijoBAAAAZGJ291jcvHnTcr+KXLly6dKlS5Kk8uXL68CBA86tDgAAAIBbsDtYlCxZUkePHpUkVaxYUe+++67OnTunefPmKV++fE4vEAAAAEDmZ/dQqGHDhun8+fOSpLFjx6pZs2aKjo5W1qxZtWjRImfXBwAAAMAN2BwsTp06pSJFiqhbt26WtqpVq+q3337TL7/8okKFCikwMNAlRQIAAADI3GwOFsWKFVNoaKgiIiLUoEED1a9fXwULFlT27NlVpUoVV9YIAAAAIJOzOVhs3LhRmzdv1ubNm7V06VIlJSWpaNGiatCggSIiIhQREaG8efO6slYAAAAAmZTNwaJ+/fqqX7++JOnOnTvasWOHJWgsXrxYycnJKlWqlH7++WdX1QoAAAAgk7J78rYkeXt7q0GDBqpbt64iIiIUExOjd999V7/88ouz6wMAAADgBuwKFklJSdq1a5c2bdqkzZs3a/fu3QoJCVG9evX0zjvvKDw83FV1AgAAAMjEbA4WDRo00O7du1WkSBGFh4fr2Wef1ccff8y9KwAAAADYHiy+++475cuXz7IiVHh4uHLnzu3K2gAAAAC4CZvvvH39+nW99957yp49u6KiopQ/f36VL19egwcP1ooVK3Tp0iVX1gkAAAAgE7O5xyJHjhxq1qyZmjVrJkm6ceOGtm3bpk2bNmny5Mnq2rWrwsLCdOjQIZcVCwAAACBzsrnH4q9y5MihgIAABQQEKFeuXPL09NSRI0ecWRsAAAAAN2Fzj0Vqaqr27dunzZs3a9OmTdq+fbtu3rypAgUKKCIiQrNnz1ZERIQrawUAAACQSdkcLHLmzKmbN28qODhYERERmjZtmurXr69ixYo98sm3bt2qt956S/v379f58+e1evVqtWnT5pGPBwAAACBj2Bws3nrrLUVERKhEiRJOO/nNmzdVsWJF9enTR+3atXPacQEAAAA8XjYHi2effdbpJ2/evLmaN2/u9OMCAAAAeLzsuvN2RktMTFRiYqLleXx8fAZWAwAAAOCeR14VKiNMmjRJ/v7+lkdISEhGlwQAAABAbhYsxowZo7i4OMvj7NmzGV0SAAAAALnZUCiz2Syz2ZzRZQAAAAD4C7fqsQAAAACQOWVoj0VCQoKOHz9ueX7q1CkdPHhQAQEBKlSoUAZWBgAAAMAeGRos9u3bZ3W37pEjR0qSevbsqUWLFmVQVQAAAADslaHBon79+jIMIyNLAAAAAOAEzLEAAAAA4DCCBQAAAACHESwAAAAAOIxgAQAAAMBhBAsAAAAADiNYAAAAAHAYwQIAAACAwwgWAAAAABxGsAAAAADgMIIFAAAAAIcRLAAAAAA4jGABAAAAwGEECwAAAAAOI1gAAAAAcBjBAgAAAIDDCBYAAAAAHEawAAAAAOAwggUAAAAAhxEsAAAAADiMYAEAAADAYQQLAAAAAA4jWAAAAABwGMECAAAAgMMIFgAAAAAcRrAAAAAA4DCCBQAAAACHESwAAAAAOIxgAQAAAMBhBAsAAAAADiNYAAAAAHAYwQIAAACAwwgWAAAAABxGsAAAAADgMIIFAAAAAIcRLAAAAAA4jGABAAAAwGEECwAAAAAOI1gAAAAAcBjBAgAAAIDDCBYAAAAAHEawAAAAAOAwggUAAAAAhxEsAAAAADiMYAEAAADAYQQLAAAAAA4jWAAAAABwGMECAAAAgMMIFgAAAAAcRrAAAAAA4DCCBQAAAACHESwAAAAAOIxgAQAAAMBhBAsAAAAADiNYAAAAAHBYpggWs2fPVuHCheXt7a0aNWpoz549GV0SAAAAADtkeLD45JNPNHLkSI0dO1YHDhxQxYoV1bRpU8XGxmZ0aQAAAABslOHBYurUqerXr5969+6tMmXKaN68ecqePbsWLFiQ0aUBAAAAsFGGBoukpCTt379fjRo1srRlyZJFjRo10s6dOzOwMgAAAAD28MzIk1++fFkpKSnKmzevVXvevHn1yy+/pNk/MTFRiYmJludxcXGSpPj4eJfWmZJ426XHB9yFq79rrsZ3Gfh/fJ+Bfw5Xfp/vHdswjIfum6HBwl6TJk3S+PHj07SHhIRkQDXAv4//rAEZXQIAJ+H7DPxzPI7v840bN+Tv7//AfTI0WAQGBsrDw0MXL160ar948aKCg4PT7D9mzBiNHDnS8jw1NVVXr15V7ty5ZTKZXF4vMkZ8fLxCQkJ09uxZ+fn5ZXQ5ABzA9xn45+D7/O9gGIZu3Lih/PnzP3TfDA0WWbNmVdWqVbVhwwa1adNG0t2wsGHDBg0ePDjN/mazWWaz2aotZ86cj6FSZAZ+fn78wwX8Q/B9Bv45+D7/8z2sp+KeDB8KNXLkSPXs2VPVqlVT9erVNX36dN28eVO9e/fO6NIAAAAA2CjDg0WnTp106dIlvfrqq7pw4YIqVaqkb775Js2EbgAAAACZV4YHC0kaPHhwukOfAOnuELixY8emGQYHwP3wfQb+Ofg+469Mhi1rRwEAAADAA2T4nbcBAAAAuD+CBQAAAACHESyQYerXr6/hw4e75Ni9evWyLGEs3V2DuX///goICJDJZNLBgwddcl4A9rHl34HChQtr+vTpj6UeAI/ur//3pseV//cj4xEs4DLp/QOzYsUKeXt7a8qUKS4994wZM7Ro0SLL82+++UaLFi3SmjVrdP78eZUrV86l5wf+DXr16iWTySSTySQvLy8VKVJEL7zwgu7cuePU8+zdu1f9+/d36jEB/L/NmzdbvsvpPSIiImw6zl//78W/T6ZYFQr/Dh988IEGDRqkefPmqXfv3vryyy+dfo6UlBSZTKY0N3I5ceKE8uXLp9q1azv9nMC/WbNmzbRw4UIlJydr//796tmzp0wmk6Kiopx2jjx58jjtWADSql27ts6fP5+m/YsvvtCAAQM0cOBAm45j603U8M9FjwUei8mTJ2vIkCFatmyZ1c0PU1NT9cILLyggIEDBwcEaN26c1eumTp2q8uXLK0eOHAoJCdHAgQOVkJBg2b5o0SLlzJlTX3zxhcqUKSOz2awzZ85Y9Zb06tVLQ4YM0ZkzZ2QymVS4cOHHcMXAv4PZbFZwcLBCQkLUpk0bNWrUSOvWrZMkXblyRV26dFGBAgWUPXt2lS9fXkuXLk1zjD///FODBw+Wv7+/AgMD9corr+j+BQsZCgW4VtasWRUcHGz1uHbtmkaNGqWXXnpJHTt2VEpKivr27asiRYooW7ZsKlmypGbMmGF1nL+OVLh586Z69OghHx8f5cuXz+WjFZDxCBZwuRdffFGvvfaa1qxZo7Zt21ptW7x4sXLkyKHdu3dr8uTJmjBhguWHEknKkiWLZs6cqZ9//lmLFy/Wxo0b9cILL1gd49atW4qKitIHH3ygn3/+WUFBQVbbZ8yYoQkTJqhgwYI6f/689u7d67qLBf7FDh06pB07dihr1qySpDt37qhq1ar66quvdOjQIfXv31/du3fXnj17rF63ePFieXp6as+ePZoxY4amTp2qDz74ICMuAYCk69ev66mnnlL9+vX12muvSbr7i8CCBQvq008/1eHDh/Xqq6/qpZde0vLly//2OKNHj9aWLVv0+eef69tvv9XmzZt14MCBx3UZyAAMhYJLxcTE6PPPP9eGDRvUoEGDNNsrVKigsWPHSpLCwsL0zjvvaMOGDWrcuLEkWU3wKly4sF5//XUNGDBAc+bMsbQnJydrzpw5qlixYro1+Pv7y9fXVx4eHgoODnbi1QFYs2aNfHx89OeffyoxMVFZsmTRO++8I0kqUKCARo0aZdl3yJAhWrt2rZYvX67q1atb2kNCQjRt2jSZTCaVLFlSP/30k6ZNm6Z+/fo99usB/u1SU1P1zDPPyNPTU9HR0TKZTJIkLy8vjR8/3rJfkSJFtHPnTi1fvlxPP/10muMkJCRo/vz5+uijj9SwYUNJd3+JULBgwcdzIcgQBAu4VIUKFXT58mWNHTtW1atXl4+PT5rt98uXL59iY2Mtz9evX69Jkybpl19+UXx8vP7880/duXNHt27dUvbs2SXd7cL963EAPB4RERGaO3eubt68qWnTpsnT01Pt27eXdHfO08SJE7V8+XKdO3dOSUlJSkxMtHx376lZs6blhxdJqlWrlqZMmaKUlBR5eHg81usB/u1eeukl7dy5U3v27JGvr6/VttmzZ2vBggU6c+aMbt++raSkJFWqVCnd45w4cUJJSUmqUaOGpS0gIEAlS5Z0ZfnIYAyFgksVKFBAmzdv1rlz59SsWTPduHHDaruXl5fVc5PJpNTUVEnS6dOn1bJlS1WoUEErV67U/v37NXv2bElSUlKS5TXZsmWz+qEEwOOTI0cOFS9eXBUrVtSCBQu0e/duzZ8/X5L01ltvacaMGXrxxRe1adMmHTx4UE2bNrX6/gLIPJYtW6a3335by5YtU1hYWJpto0aNUt++ffXtt9/q4MGD6t27N99nWCFYwOVCQ0O1ZcsWXbhwId1w8Xf279+v1NRUTZkyRTVr1lSJEiX0xx9/uLhaAI8qS5Yseumll/S///1Pt2/f1vbt2/XUU0+pW7duqlixoooWLapjx46led3u3butnu/atUthYWH0VgCP0cGDB9W3b1+9+eabatq0aZrt27dvV+3atTVw4EBVrlxZxYsX14kTJ/72eMWKFZOXl5fV9/vatWvp/huAfw6CBR6LkJAQbd68WbGxsWratKni4+Mf+prixYsrOTlZs2bN0smTJ7VkyRLNmzfvMVQL4FF17NhRHh4emj17tsLCwrRu3Trt2LFDR44c0bPPPquLFy+mec2ZM2c0cuRIHT16VEuXLtWsWbM0bNiwDKge+He6fPmy2rRpo/r166tbt266cOGC1ePSpUsKCwvTvn37tHbtWh07dkyvvPLKAxdD8fHxUd++fTV69Ght3LhRhw4dUq9evZQlCz96/pMxxwKPTcGCBbV582ZFRESoadOmSkxMfOD+FStW1NSpUxUVFaUxY8aoXr16mjRpknr06PGYKgZgL09PTw0ePFiTJ0/W999/r5MnT6pp06bKnj27+vfvrzZt2iguLs7qNT169NDt27dVvXp1eXh4aNiwYdwQD3iMvvrqK/3222/67bfflC9fvjTbQ0NDdfToUX3//ffq1KmTTCaTunTpooEDByomJuZvj/vWW28pISFBrVq1kq+vr55//vk033/8s5iM+xcLBwAAAIBHQH8UAAAAAIcRLAAAAAA4jGABAAAAwGEECwAAAAAOI1gAAAAAcBjBAgAAAIDDCBYAAAAAHEawAAAAAOAwggUAAAAAhxEsAABpXLp0Sc8995wKFSoks9ms4OBgNW3aVNu3b8/o0gAAmZRnRhcAAMh82rdvr6SkJC1evFhFixbVxYsXtWHDBl25ciWjSwMAZFL0WAAArFy/fl3fffedoqKiFBERodDQUFWvXl1jxoxR69atLfv85z//UZ48eeTn56cGDRrohx9+sBzjxIkTeuqpp5Q3b175+PjoiSee0Pr1663OM2fOHIWFhcnb21t58+ZVhw4dLNsSExM1dOhQBQUFydvbW3Xr1tXevXst2zdv3iyTyaQNGzaoWrVqyp49u2rXrq2jR4+6+N0BAPwdggUAwIqPj498fHz02WefKTExMd19OnbsqNjYWMXExGj//v2qUqWKGjZsqKtXr0qSEhISFBkZqQ0bNuj7779Xs2bN1KpVK505c0aStG/fPg0dOlQTJkzQ0aNH9c0336hevXqW47/wwgtauXKlFi9erAMHDqh48eJq2rSp5fj3vPzyy5oyZYr27dsnT09P9enTx0XvCgDgYUyGYRgZXQQAIHNZuXKl+vXrp9u3b6tKlSoKDw9X586dVaFCBW3btk0tWrRQbGyszGaz5TXFixfXCy+8oP79+6d7zHLlymnAgAEaPHiwVq1apd69e+v333+Xr6+v1X43b95Urly5tGjRIj3zzDOSpOTkZBUuXFjDhw/X6NGjtXnzZkVERGj9+vVq2LChJOnrr79WixYtdPv2bXl7e7vonQEA/B16LAAAabRv315//PGHvvjiCzVr1kybN29WlSpVtGjRIv3www9KSEhQ7ty5Lb0bPj4+OnXqlE6cOCHpbo/FqFGjVLp0aeXMmVM+Pj46cuSIpceicePGCg0NVdGiRdW9e3dFR0fr1q1bku4Oo0pOTladOnUs9Xh5eal69eo6cuSIVZ0VKlSw/DlfvnySpNjYWJe+NwCA9DF5GwCQLm9vbzVu3FiNGzfWK6+8ov/85z8aO3asBg4cqHz58mnz5s1pXpMzZ05J0qhRo7Ru3Tq9/fbbKl68uLJly6YOHTooKSlJkuTr66sDBw5o8+bN+vbbb/Xqq69q3LhxVvMobOHl5WX5s8lkkiSlpqY+2gUDABxCjwUAwCZlypTRzZs3VaVKFV24cEGenp4qXry41SMwMFCStH37dvXq1Utt27ZV+fLlFRwcrNOnT1sdz9PTU40aNdLkyZP1448/6vTp09q4caOKFSumrFmzWi1tm5ycrL1796pMmTKP85IBAHagxwIAYOXKlSvq2LGj+vTpowoVKsjX11f79u3T5MmT9dRTT6lRo0aqVauW2rRpo8mTJ6tEiRL6448/9NVXX6lt27aqVq2awsLCtGrVKrVq1Uomk0mvvPKKVU/CmjVrdPLkSdWrV0+5cuXS119/rdTUVJUsWVI5cuTQc889p9GjRysgIECFChXS5MmTdevWLfXt2zcD3xkAwIMQLAAAVnx8fFSjRg1NmzbNMt8hJCRE/fr100svvSSTyaSvv/5aL7/8snr37q1Lly4pODhY9erVU968eSVJU6dOVZ8+fVS7dm0FBgbqxRdfVHx8vOUcOXPm1KpVqzRu3DjduXNHYWFhWrp0qcqWLStJevPNN5Wamqru3bvrxo0bqlatmtauXatcuXJlyHsCAHg4VoUCAAAA4DDmWAAAAABwGMECAAAAgMMIFgAAAAAcRrAAAAAA4DCCBQAAAACHESwAAAAAOIxgAQAAAMBhBAsAAAAADiNYAAAAAHAYwQIAAACAwwgWAAAAABxGsAAAAADgsP8DukxZxzat4Ak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2" y="1644703"/>
            <a:ext cx="7524750"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889" y="1581649"/>
            <a:ext cx="7612063"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320982" y="1275371"/>
            <a:ext cx="11711361" cy="2031325"/>
          </a:xfrm>
          <a:prstGeom prst="rect">
            <a:avLst/>
          </a:prstGeom>
          <a:noFill/>
        </p:spPr>
        <p:txBody>
          <a:bodyPr wrap="square" rtlCol="0">
            <a:spAutoFit/>
          </a:bodyPr>
          <a:lstStyle/>
          <a:p>
            <a:pPr marL="285750" indent="-285750">
              <a:buFont typeface="Arial" pitchFamily="34" charset="0"/>
              <a:buChar char="•"/>
            </a:pPr>
            <a:r>
              <a:rPr lang="en-US" b="1" dirty="0"/>
              <a:t>Predictive Analysis:</a:t>
            </a:r>
            <a:r>
              <a:rPr lang="en-US" dirty="0"/>
              <a:t> Develop models to predict crop yield and profitability for different seasons. </a:t>
            </a:r>
            <a:endParaRPr lang="en-US" dirty="0" smtClean="0"/>
          </a:p>
          <a:p>
            <a:pPr marL="285750" indent="-285750">
              <a:buFont typeface="Arial" pitchFamily="34" charset="0"/>
              <a:buChar char="•"/>
            </a:pPr>
            <a:r>
              <a:rPr lang="en-US" b="1" dirty="0" smtClean="0"/>
              <a:t>Weather </a:t>
            </a:r>
            <a:r>
              <a:rPr lang="en-US" b="1" dirty="0"/>
              <a:t>Integration:</a:t>
            </a:r>
            <a:r>
              <a:rPr lang="en-US" dirty="0"/>
              <a:t> Incorporate real-time weather data for better seasonal planning. </a:t>
            </a:r>
            <a:endParaRPr lang="en-US" dirty="0" smtClean="0"/>
          </a:p>
          <a:p>
            <a:pPr marL="285750" indent="-285750">
              <a:buFont typeface="Arial" pitchFamily="34" charset="0"/>
              <a:buChar char="•"/>
            </a:pPr>
            <a:r>
              <a:rPr lang="en-US" b="1" dirty="0" smtClean="0"/>
              <a:t>Crop </a:t>
            </a:r>
            <a:r>
              <a:rPr lang="en-US" b="1" dirty="0"/>
              <a:t>Recommendation:</a:t>
            </a:r>
            <a:r>
              <a:rPr lang="en-US" dirty="0"/>
              <a:t> Build a system to recommend suitable crops based on soil and </a:t>
            </a:r>
            <a:r>
              <a:rPr lang="en-US" dirty="0" err="1" smtClean="0"/>
              <a:t>seasonl</a:t>
            </a:r>
            <a:r>
              <a:rPr lang="en-US" dirty="0" smtClean="0"/>
              <a:t> conditions</a:t>
            </a:r>
            <a:r>
              <a:rPr lang="en-US" dirty="0"/>
              <a:t>. </a:t>
            </a:r>
            <a:endParaRPr lang="en-US" dirty="0" smtClean="0"/>
          </a:p>
          <a:p>
            <a:pPr marL="285750" indent="-285750">
              <a:buFont typeface="Arial" pitchFamily="34" charset="0"/>
              <a:buChar char="•"/>
            </a:pPr>
            <a:r>
              <a:rPr lang="en-US" b="1" dirty="0" smtClean="0"/>
              <a:t>Resource </a:t>
            </a:r>
            <a:r>
              <a:rPr lang="en-US" b="1" dirty="0"/>
              <a:t>Optimization:</a:t>
            </a:r>
            <a:r>
              <a:rPr lang="en-US" dirty="0"/>
              <a:t> Use data analytics to optimize water, fertilizer, and pesticide usage. </a:t>
            </a:r>
            <a:endParaRPr lang="en-US" dirty="0" smtClean="0"/>
          </a:p>
          <a:p>
            <a:pPr marL="285750" indent="-285750">
              <a:buFont typeface="Arial" pitchFamily="34" charset="0"/>
              <a:buChar char="•"/>
            </a:pPr>
            <a:r>
              <a:rPr lang="en-US" b="1" dirty="0" smtClean="0"/>
              <a:t>Risk </a:t>
            </a:r>
            <a:r>
              <a:rPr lang="en-US" b="1" dirty="0"/>
              <a:t>Prediction:</a:t>
            </a:r>
            <a:r>
              <a:rPr lang="en-US" dirty="0"/>
              <a:t> Develop models to predict disease and pest risks. </a:t>
            </a:r>
            <a:endParaRPr lang="en-US" dirty="0" smtClean="0"/>
          </a:p>
          <a:p>
            <a:pPr marL="285750" indent="-285750">
              <a:buFont typeface="Arial" pitchFamily="34" charset="0"/>
              <a:buChar char="•"/>
            </a:pPr>
            <a:r>
              <a:rPr lang="en-US" b="1" dirty="0" smtClean="0"/>
              <a:t>Interactive </a:t>
            </a:r>
            <a:r>
              <a:rPr lang="en-US" b="1" dirty="0"/>
              <a:t>Dashboard:</a:t>
            </a:r>
            <a:r>
              <a:rPr lang="en-US" dirty="0"/>
              <a:t> Create a real-time dashboard for farmers and agricultural planners. </a:t>
            </a:r>
            <a:endParaRPr lang="en-US" dirty="0" smtClean="0"/>
          </a:p>
          <a:p>
            <a:pPr marL="285750" indent="-285750">
              <a:buFont typeface="Arial" pitchFamily="34" charset="0"/>
              <a:buChar char="•"/>
            </a:pPr>
            <a:r>
              <a:rPr lang="en-US" b="1" dirty="0" smtClean="0"/>
              <a:t>Larger </a:t>
            </a:r>
            <a:r>
              <a:rPr lang="en-US" b="1" dirty="0"/>
              <a:t>Dataset:</a:t>
            </a:r>
            <a:r>
              <a:rPr lang="en-US" dirty="0"/>
              <a:t> Extend the analysis using data from more regions, crops, and years.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t>https://github.com/soo6ya/vois-data</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1415370"/>
            <a:ext cx="9692935" cy="524959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758171" y="575129"/>
            <a:ext cx="11340000" cy="673100"/>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4174061" y="3238870"/>
            <a:ext cx="2139696" cy="344312"/>
          </a:xfrm>
        </p:spPr>
        <p:txBody>
          <a:bodyPr>
            <a:normAutofit fontScale="92500" lnSpcReduction="20000"/>
          </a:bodyPr>
          <a:lstStyle/>
          <a:p>
            <a:r>
              <a:rPr lang="en-IN" dirty="0" smtClean="0">
                <a:solidFill>
                  <a:schemeClr val="tx1"/>
                </a:solidFill>
              </a:rPr>
              <a:t>Questions ?</a:t>
            </a:r>
            <a:endParaRPr lang="en-IN" dirty="0">
              <a:solidFill>
                <a:schemeClr val="tx1"/>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infopath/2007/PartnerControls"/>
    <ds:schemaRef ds:uri="http://schemas.microsoft.com/office/2006/metadata/properties"/>
    <ds:schemaRef ds:uri="http://purl.org/dc/terms/"/>
    <ds:schemaRef ds:uri="http://schemas.microsoft.com/office/2006/documentManagement/types"/>
    <ds:schemaRef ds:uri="http://schemas.openxmlformats.org/package/2006/metadata/core-properties"/>
    <ds:schemaRef ds:uri="16c05727-aa75-4e4a-9b5f-8a80a1165891"/>
    <ds:schemaRef ds:uri="http://purl.org/dc/elements/1.1/"/>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1584</TotalTime>
  <Words>559</Words>
  <Application>Microsoft Office PowerPoint</Application>
  <PresentationFormat>Custom</PresentationFormat>
  <Paragraphs>63</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104</cp:revision>
  <dcterms:created xsi:type="dcterms:W3CDTF">2021-07-11T13:13:15Z</dcterms:created>
  <dcterms:modified xsi:type="dcterms:W3CDTF">2026-09-07T20:14:13Z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